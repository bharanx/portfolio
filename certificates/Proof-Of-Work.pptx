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image" Target="../media/image-4-1.png"/><Relationship Id="rId4" Type="http://schemas.openxmlformats.org/officeDocument/2006/relationships/image" Target="../media/image-4-1.png"/><Relationship Id="rId5" Type="http://schemas.openxmlformats.org/officeDocument/2006/relationships/image" Target="../media/image-4-5.png"/><Relationship Id="rId6" Type="http://schemas.openxmlformats.org/officeDocument/2006/relationships/image" Target="../media/image-4-5.png"/><Relationship Id="rId7" Type="http://schemas.openxmlformats.org/officeDocument/2006/relationships/image" Target="../media/image-4-5.png"/><Relationship Id="rId8" Type="http://schemas.openxmlformats.org/officeDocument/2006/relationships/image" Target="../media/image-4-5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2.png"/><Relationship Id="rId5" Type="http://schemas.openxmlformats.org/officeDocument/2006/relationships/image" Target="../media/image-9-5.png"/><Relationship Id="rId6" Type="http://schemas.openxmlformats.org/officeDocument/2006/relationships/image" Target="../media/image-9-2.png"/><Relationship Id="rId7" Type="http://schemas.openxmlformats.org/officeDocument/2006/relationships/image" Target="../media/image-9-7.png"/><Relationship Id="rId8" Type="http://schemas.openxmlformats.org/officeDocument/2006/relationships/image" Target="../media/image-9-2.png"/><Relationship Id="rId9" Type="http://schemas.openxmlformats.org/officeDocument/2006/relationships/image" Target="../media/image-9-9.png"/><Relationship Id="rId10" Type="http://schemas.openxmlformats.org/officeDocument/2006/relationships/image" Target="../media/image-9-2.png"/><Relationship Id="rId11" Type="http://schemas.openxmlformats.org/officeDocument/2006/relationships/image" Target="../media/image-9-11.png"/><Relationship Id="rId12" Type="http://schemas.openxmlformats.org/officeDocument/2006/relationships/image" Target="../media/image-9-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502920" y="320040"/>
            <a:ext cx="731520" cy="137160"/>
          </a:xfrm>
          <a:prstGeom prst="line">
            <a:avLst/>
          </a:prstGeom>
          <a:noFill/>
          <a:ln w="9525">
            <a:solidFill>
              <a:srgbClr val="CBD4E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457200"/>
            <a:ext cx="457200" cy="502920"/>
          </a:xfrm>
          <a:prstGeom prst="line">
            <a:avLst/>
          </a:prstGeom>
          <a:noFill/>
          <a:ln w="9525">
            <a:solidFill>
              <a:srgbClr val="CBD4E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960120" y="320040"/>
            <a:ext cx="274320" cy="640080"/>
          </a:xfrm>
          <a:prstGeom prst="line">
            <a:avLst/>
          </a:prstGeom>
          <a:noFill/>
          <a:ln w="9525">
            <a:solidFill>
              <a:srgbClr val="CBD4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960120" y="777240"/>
            <a:ext cx="777240" cy="182880"/>
          </a:xfrm>
          <a:prstGeom prst="line">
            <a:avLst/>
          </a:prstGeom>
          <a:noFill/>
          <a:ln w="9525">
            <a:solidFill>
              <a:srgbClr val="CBD4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365760" y="960120"/>
            <a:ext cx="594360" cy="274320"/>
          </a:xfrm>
          <a:prstGeom prst="line">
            <a:avLst/>
          </a:prstGeom>
          <a:noFill/>
          <a:ln w="9525">
            <a:solidFill>
              <a:srgbClr val="CBD4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37360" y="777240"/>
            <a:ext cx="411480" cy="502920"/>
          </a:xfrm>
          <a:prstGeom prst="line">
            <a:avLst/>
          </a:prstGeom>
          <a:noFill/>
          <a:ln w="9525">
            <a:solidFill>
              <a:srgbClr val="CBD4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234440"/>
            <a:ext cx="320040" cy="502920"/>
          </a:xfrm>
          <a:prstGeom prst="line">
            <a:avLst/>
          </a:prstGeom>
          <a:noFill/>
          <a:ln w="9525">
            <a:solidFill>
              <a:srgbClr val="CBD4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685800" y="960120"/>
            <a:ext cx="274320" cy="777240"/>
          </a:xfrm>
          <a:prstGeom prst="line">
            <a:avLst/>
          </a:prstGeom>
          <a:noFill/>
          <a:ln w="9525">
            <a:solidFill>
              <a:srgbClr val="CBD4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" y="425196"/>
            <a:ext cx="64008" cy="64008"/>
          </a:xfrm>
          <a:prstGeom prst="ellipse">
            <a:avLst/>
          </a:prstGeom>
          <a:solidFill>
            <a:srgbClr val="AFC0DC"/>
          </a:solidFill>
          <a:ln/>
        </p:spPr>
      </p:sp>
      <p:sp>
        <p:nvSpPr>
          <p:cNvPr id="11" name="Shape 9"/>
          <p:cNvSpPr/>
          <p:nvPr/>
        </p:nvSpPr>
        <p:spPr>
          <a:xfrm>
            <a:off x="1202436" y="288036"/>
            <a:ext cx="64008" cy="64008"/>
          </a:xfrm>
          <a:prstGeom prst="ellipse">
            <a:avLst/>
          </a:prstGeom>
          <a:solidFill>
            <a:srgbClr val="AFC0DC"/>
          </a:solidFill>
          <a:ln/>
        </p:spPr>
      </p:sp>
      <p:sp>
        <p:nvSpPr>
          <p:cNvPr id="12" name="Shape 10"/>
          <p:cNvSpPr/>
          <p:nvPr/>
        </p:nvSpPr>
        <p:spPr>
          <a:xfrm>
            <a:off x="928116" y="928116"/>
            <a:ext cx="64008" cy="64008"/>
          </a:xfrm>
          <a:prstGeom prst="ellipse">
            <a:avLst/>
          </a:prstGeom>
          <a:solidFill>
            <a:srgbClr val="AFC0DC"/>
          </a:solidFill>
          <a:ln/>
        </p:spPr>
      </p:sp>
      <p:sp>
        <p:nvSpPr>
          <p:cNvPr id="13" name="Shape 11"/>
          <p:cNvSpPr/>
          <p:nvPr/>
        </p:nvSpPr>
        <p:spPr>
          <a:xfrm>
            <a:off x="333756" y="1202436"/>
            <a:ext cx="64008" cy="64008"/>
          </a:xfrm>
          <a:prstGeom prst="ellipse">
            <a:avLst/>
          </a:prstGeom>
          <a:solidFill>
            <a:srgbClr val="AFC0DC"/>
          </a:solidFill>
          <a:ln/>
        </p:spPr>
      </p:sp>
      <p:sp>
        <p:nvSpPr>
          <p:cNvPr id="14" name="Shape 12"/>
          <p:cNvSpPr/>
          <p:nvPr/>
        </p:nvSpPr>
        <p:spPr>
          <a:xfrm>
            <a:off x="1705356" y="745236"/>
            <a:ext cx="64008" cy="64008"/>
          </a:xfrm>
          <a:prstGeom prst="ellipse">
            <a:avLst/>
          </a:prstGeom>
          <a:solidFill>
            <a:srgbClr val="AFC0DC"/>
          </a:solidFill>
          <a:ln/>
        </p:spPr>
      </p:sp>
      <p:sp>
        <p:nvSpPr>
          <p:cNvPr id="15" name="Shape 13"/>
          <p:cNvSpPr/>
          <p:nvPr/>
        </p:nvSpPr>
        <p:spPr>
          <a:xfrm>
            <a:off x="2116836" y="1248156"/>
            <a:ext cx="64008" cy="64008"/>
          </a:xfrm>
          <a:prstGeom prst="ellipse">
            <a:avLst/>
          </a:prstGeom>
          <a:solidFill>
            <a:srgbClr val="AFC0DC"/>
          </a:solidFill>
          <a:ln/>
        </p:spPr>
      </p:sp>
      <p:sp>
        <p:nvSpPr>
          <p:cNvPr id="16" name="Shape 14"/>
          <p:cNvSpPr/>
          <p:nvPr/>
        </p:nvSpPr>
        <p:spPr>
          <a:xfrm>
            <a:off x="653796" y="1705356"/>
            <a:ext cx="64008" cy="64008"/>
          </a:xfrm>
          <a:prstGeom prst="ellipse">
            <a:avLst/>
          </a:prstGeom>
          <a:solidFill>
            <a:srgbClr val="AFC0DC"/>
          </a:solidFill>
          <a:ln/>
        </p:spPr>
      </p:sp>
      <p:sp>
        <p:nvSpPr>
          <p:cNvPr id="17" name="Shape 15"/>
          <p:cNvSpPr/>
          <p:nvPr/>
        </p:nvSpPr>
        <p:spPr>
          <a:xfrm flipV="1">
            <a:off x="10954512" y="6400800"/>
            <a:ext cx="731520" cy="137160"/>
          </a:xfrm>
          <a:prstGeom prst="line">
            <a:avLst/>
          </a:prstGeom>
          <a:noFill/>
          <a:ln w="9525">
            <a:solidFill>
              <a:srgbClr val="CBD4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228832" y="5897880"/>
            <a:ext cx="457200" cy="502920"/>
          </a:xfrm>
          <a:prstGeom prst="line">
            <a:avLst/>
          </a:prstGeom>
          <a:noFill/>
          <a:ln w="9525">
            <a:solidFill>
              <a:srgbClr val="CBD4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10954512" y="5897880"/>
            <a:ext cx="274320" cy="640080"/>
          </a:xfrm>
          <a:prstGeom prst="line">
            <a:avLst/>
          </a:prstGeom>
          <a:noFill/>
          <a:ln w="9525">
            <a:solidFill>
              <a:srgbClr val="CBD4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10451592" y="5897880"/>
            <a:ext cx="777240" cy="182880"/>
          </a:xfrm>
          <a:prstGeom prst="line">
            <a:avLst/>
          </a:prstGeom>
          <a:noFill/>
          <a:ln w="9525">
            <a:solidFill>
              <a:srgbClr val="CBD4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11228832" y="5623560"/>
            <a:ext cx="594360" cy="274320"/>
          </a:xfrm>
          <a:prstGeom prst="line">
            <a:avLst/>
          </a:prstGeom>
          <a:noFill/>
          <a:ln w="9525">
            <a:solidFill>
              <a:srgbClr val="CBD4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040112" y="5577840"/>
            <a:ext cx="411480" cy="502920"/>
          </a:xfrm>
          <a:prstGeom prst="line">
            <a:avLst/>
          </a:prstGeom>
          <a:noFill/>
          <a:ln w="9525">
            <a:solidFill>
              <a:srgbClr val="CBD4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503152" y="5120640"/>
            <a:ext cx="320040" cy="502920"/>
          </a:xfrm>
          <a:prstGeom prst="line">
            <a:avLst/>
          </a:prstGeom>
          <a:noFill/>
          <a:ln w="9525">
            <a:solidFill>
              <a:srgbClr val="CBD4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11228832" y="5120640"/>
            <a:ext cx="274320" cy="777240"/>
          </a:xfrm>
          <a:prstGeom prst="line">
            <a:avLst/>
          </a:prstGeom>
          <a:noFill/>
          <a:ln w="9525">
            <a:solidFill>
              <a:srgbClr val="CBD4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654028" y="6368796"/>
            <a:ext cx="64008" cy="64008"/>
          </a:xfrm>
          <a:prstGeom prst="ellipse">
            <a:avLst/>
          </a:prstGeom>
          <a:solidFill>
            <a:srgbClr val="AFC0DC"/>
          </a:solidFill>
          <a:ln/>
        </p:spPr>
      </p:sp>
      <p:sp>
        <p:nvSpPr>
          <p:cNvPr id="26" name="Shape 24"/>
          <p:cNvSpPr/>
          <p:nvPr/>
        </p:nvSpPr>
        <p:spPr>
          <a:xfrm>
            <a:off x="10922508" y="6505956"/>
            <a:ext cx="64008" cy="64008"/>
          </a:xfrm>
          <a:prstGeom prst="ellipse">
            <a:avLst/>
          </a:prstGeom>
          <a:solidFill>
            <a:srgbClr val="AFC0DC"/>
          </a:solidFill>
          <a:ln/>
        </p:spPr>
      </p:sp>
      <p:sp>
        <p:nvSpPr>
          <p:cNvPr id="27" name="Shape 25"/>
          <p:cNvSpPr/>
          <p:nvPr/>
        </p:nvSpPr>
        <p:spPr>
          <a:xfrm>
            <a:off x="11196828" y="5865876"/>
            <a:ext cx="64008" cy="64008"/>
          </a:xfrm>
          <a:prstGeom prst="ellipse">
            <a:avLst/>
          </a:prstGeom>
          <a:solidFill>
            <a:srgbClr val="AFC0DC"/>
          </a:solidFill>
          <a:ln/>
        </p:spPr>
      </p:sp>
      <p:sp>
        <p:nvSpPr>
          <p:cNvPr id="28" name="Shape 26"/>
          <p:cNvSpPr/>
          <p:nvPr/>
        </p:nvSpPr>
        <p:spPr>
          <a:xfrm>
            <a:off x="11791188" y="5591556"/>
            <a:ext cx="64008" cy="64008"/>
          </a:xfrm>
          <a:prstGeom prst="ellipse">
            <a:avLst/>
          </a:prstGeom>
          <a:solidFill>
            <a:srgbClr val="AFC0DC"/>
          </a:solidFill>
          <a:ln/>
        </p:spPr>
      </p:sp>
      <p:sp>
        <p:nvSpPr>
          <p:cNvPr id="29" name="Shape 27"/>
          <p:cNvSpPr/>
          <p:nvPr/>
        </p:nvSpPr>
        <p:spPr>
          <a:xfrm>
            <a:off x="10419588" y="6048756"/>
            <a:ext cx="64008" cy="64008"/>
          </a:xfrm>
          <a:prstGeom prst="ellipse">
            <a:avLst/>
          </a:prstGeom>
          <a:solidFill>
            <a:srgbClr val="AFC0DC"/>
          </a:solidFill>
          <a:ln/>
        </p:spPr>
      </p:sp>
      <p:sp>
        <p:nvSpPr>
          <p:cNvPr id="30" name="Shape 28"/>
          <p:cNvSpPr/>
          <p:nvPr/>
        </p:nvSpPr>
        <p:spPr>
          <a:xfrm>
            <a:off x="10008108" y="5545836"/>
            <a:ext cx="64008" cy="64008"/>
          </a:xfrm>
          <a:prstGeom prst="ellipse">
            <a:avLst/>
          </a:prstGeom>
          <a:solidFill>
            <a:srgbClr val="AFC0DC"/>
          </a:solidFill>
          <a:ln/>
        </p:spPr>
      </p:sp>
      <p:sp>
        <p:nvSpPr>
          <p:cNvPr id="31" name="Shape 29"/>
          <p:cNvSpPr/>
          <p:nvPr/>
        </p:nvSpPr>
        <p:spPr>
          <a:xfrm>
            <a:off x="11471148" y="5088636"/>
            <a:ext cx="64008" cy="64008"/>
          </a:xfrm>
          <a:prstGeom prst="ellipse">
            <a:avLst/>
          </a:prstGeom>
          <a:solidFill>
            <a:srgbClr val="AFC0DC"/>
          </a:solidFill>
          <a:ln/>
        </p:spPr>
      </p:sp>
      <p:sp>
        <p:nvSpPr>
          <p:cNvPr id="32" name="Text 30"/>
          <p:cNvSpPr/>
          <p:nvPr/>
        </p:nvSpPr>
        <p:spPr>
          <a:xfrm>
            <a:off x="0" y="1965960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B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SUBMISSION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0" y="2331720"/>
            <a:ext cx="12188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Proof-Of-Work</a:t>
            </a:r>
            <a:endParaRPr lang="en-US" sz="5400" dirty="0"/>
          </a:p>
        </p:txBody>
      </p:sp>
      <p:sp>
        <p:nvSpPr>
          <p:cNvPr id="34" name="Text 32"/>
          <p:cNvSpPr/>
          <p:nvPr/>
        </p:nvSpPr>
        <p:spPr>
          <a:xfrm>
            <a:off x="1517904" y="3310128"/>
            <a:ext cx="9153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Decentralized Labor Verification &amp; AI-Powered Trust Infrastructure</a:t>
            </a:r>
            <a:endParaRPr lang="en-US" sz="1700" dirty="0"/>
          </a:p>
        </p:txBody>
      </p:sp>
      <p:sp>
        <p:nvSpPr>
          <p:cNvPr id="35" name="Shape 33"/>
          <p:cNvSpPr/>
          <p:nvPr/>
        </p:nvSpPr>
        <p:spPr>
          <a:xfrm>
            <a:off x="5271516" y="4160520"/>
            <a:ext cx="1645920" cy="0"/>
          </a:xfrm>
          <a:prstGeom prst="line">
            <a:avLst/>
          </a:prstGeom>
          <a:noFill/>
          <a:ln w="12700">
            <a:solidFill>
              <a:srgbClr val="D9DEE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0" y="434340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[Your Team Name]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0" y="4700016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[Member One] · [Member Two] · [Member Three] · [Member Four]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0" y="5074920"/>
            <a:ext cx="12188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[Hackathon Name] · [Track / Theme] ·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Trust Gap in Global Labor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70432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workers contribute valuable skills but lack a reliable way to prove their professional history.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PROBLEMS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414016"/>
            <a:ext cx="91440" cy="9144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276856"/>
            <a:ext cx="48646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7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records are controlled by centralized platforms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282696"/>
            <a:ext cx="91440" cy="9144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3145536"/>
            <a:ext cx="48646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7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 workers struggle to verify experience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151376"/>
            <a:ext cx="91440" cy="9144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4014216"/>
            <a:ext cx="48646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7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credentials reduce trust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5020056"/>
            <a:ext cx="91440" cy="9144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4882896"/>
            <a:ext cx="48646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7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chains lack labor transparency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46520" y="1874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RESULTING FLOW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46520" y="2331720"/>
            <a:ext cx="5166360" cy="749808"/>
          </a:xfrm>
          <a:prstGeom prst="roundRect">
            <a:avLst>
              <a:gd name="adj" fmla="val 8537"/>
            </a:avLst>
          </a:prstGeom>
          <a:solidFill>
            <a:srgbClr val="F5F6F8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20840" y="2450592"/>
            <a:ext cx="512064" cy="512064"/>
          </a:xfrm>
          <a:prstGeom prst="ellipse">
            <a:avLst/>
          </a:prstGeom>
          <a:solidFill>
            <a:srgbClr val="E7ECF6"/>
          </a:solidFill>
          <a:ln w="12700">
            <a:solidFill>
              <a:srgbClr val="D9DEE4"/>
            </a:solidFill>
            <a:prstDash val="solid"/>
          </a:ln>
        </p:spPr>
      </p:sp>
      <p:pic>
        <p:nvPicPr>
          <p:cNvPr id="16" name="Image 0" descr="/home/claude/pow-deck/icons/us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8856" y="2578608"/>
            <a:ext cx="256032" cy="25603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406640" y="2331720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9029700" y="3099816"/>
            <a:ext cx="0" cy="219456"/>
          </a:xfrm>
          <a:prstGeom prst="line">
            <a:avLst/>
          </a:prstGeom>
          <a:noFill/>
          <a:ln w="19050">
            <a:solidFill>
              <a:srgbClr val="1B3A66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6446520" y="3337560"/>
            <a:ext cx="5166360" cy="749808"/>
          </a:xfrm>
          <a:prstGeom prst="roundRect">
            <a:avLst>
              <a:gd name="adj" fmla="val 8537"/>
            </a:avLst>
          </a:prstGeom>
          <a:solidFill>
            <a:srgbClr val="F5F6F8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720840" y="3456432"/>
            <a:ext cx="512064" cy="512064"/>
          </a:xfrm>
          <a:prstGeom prst="ellipse">
            <a:avLst/>
          </a:prstGeom>
          <a:solidFill>
            <a:srgbClr val="E7ECF6"/>
          </a:solidFill>
          <a:ln w="12700">
            <a:solidFill>
              <a:srgbClr val="D9DEE4"/>
            </a:solidFill>
            <a:prstDash val="solid"/>
          </a:ln>
        </p:spPr>
      </p:sp>
      <p:pic>
        <p:nvPicPr>
          <p:cNvPr id="21" name="Image 1" descr="/home/claude/pow-deck/icons/alert-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8856" y="3584448"/>
            <a:ext cx="256032" cy="25603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406640" y="3337560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Proof</a:t>
            </a:r>
            <a:endParaRPr lang="en-US" sz="1450" dirty="0"/>
          </a:p>
        </p:txBody>
      </p:sp>
      <p:sp>
        <p:nvSpPr>
          <p:cNvPr id="23" name="Shape 19"/>
          <p:cNvSpPr/>
          <p:nvPr/>
        </p:nvSpPr>
        <p:spPr>
          <a:xfrm>
            <a:off x="9029700" y="4105656"/>
            <a:ext cx="0" cy="219456"/>
          </a:xfrm>
          <a:prstGeom prst="line">
            <a:avLst/>
          </a:prstGeom>
          <a:noFill/>
          <a:ln w="19050">
            <a:solidFill>
              <a:srgbClr val="1B3A66"/>
            </a:solidFill>
            <a:prstDash val="solid"/>
            <a:tailEnd type="triangle"/>
          </a:ln>
        </p:spPr>
      </p:sp>
      <p:sp>
        <p:nvSpPr>
          <p:cNvPr id="24" name="Shape 20"/>
          <p:cNvSpPr/>
          <p:nvPr/>
        </p:nvSpPr>
        <p:spPr>
          <a:xfrm>
            <a:off x="6446520" y="4343400"/>
            <a:ext cx="5166360" cy="749808"/>
          </a:xfrm>
          <a:prstGeom prst="roundRect">
            <a:avLst>
              <a:gd name="adj" fmla="val 8537"/>
            </a:avLst>
          </a:prstGeom>
          <a:solidFill>
            <a:srgbClr val="F5F6F8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720840" y="4462272"/>
            <a:ext cx="512064" cy="512064"/>
          </a:xfrm>
          <a:prstGeom prst="ellipse">
            <a:avLst/>
          </a:prstGeom>
          <a:solidFill>
            <a:srgbClr val="E7ECF6"/>
          </a:solidFill>
          <a:ln w="12700">
            <a:solidFill>
              <a:srgbClr val="D9DEE4"/>
            </a:solidFill>
            <a:prstDash val="solid"/>
          </a:ln>
        </p:spPr>
      </p:sp>
      <p:pic>
        <p:nvPicPr>
          <p:cNvPr id="26" name="Image 2" descr="/home/claude/pow-deck/icons/briefc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8856" y="4590288"/>
            <a:ext cx="256032" cy="256032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7406640" y="4343400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450" dirty="0"/>
          </a:p>
        </p:txBody>
      </p:sp>
      <p:sp>
        <p:nvSpPr>
          <p:cNvPr id="28" name="Shape 23"/>
          <p:cNvSpPr/>
          <p:nvPr/>
        </p:nvSpPr>
        <p:spPr>
          <a:xfrm>
            <a:off x="9029700" y="5111496"/>
            <a:ext cx="0" cy="219456"/>
          </a:xfrm>
          <a:prstGeom prst="line">
            <a:avLst/>
          </a:prstGeom>
          <a:noFill/>
          <a:ln w="19050">
            <a:solidFill>
              <a:srgbClr val="1B3A66"/>
            </a:solidFill>
            <a:prstDash val="solid"/>
            <a:tailEnd type="triangle"/>
          </a:ln>
        </p:spPr>
      </p:sp>
      <p:sp>
        <p:nvSpPr>
          <p:cNvPr id="29" name="Shape 24"/>
          <p:cNvSpPr/>
          <p:nvPr/>
        </p:nvSpPr>
        <p:spPr>
          <a:xfrm>
            <a:off x="6446520" y="5349240"/>
            <a:ext cx="5166360" cy="749808"/>
          </a:xfrm>
          <a:prstGeom prst="roundRect">
            <a:avLst>
              <a:gd name="adj" fmla="val 8537"/>
            </a:avLst>
          </a:prstGeom>
          <a:solidFill>
            <a:srgbClr val="E7ECF6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6720840" y="5468112"/>
            <a:ext cx="512064" cy="512064"/>
          </a:xfrm>
          <a:prstGeom prst="ellipse">
            <a:avLst/>
          </a:prstGeom>
          <a:solidFill>
            <a:srgbClr val="E7ECF6"/>
          </a:solidFill>
          <a:ln w="12700">
            <a:solidFill>
              <a:srgbClr val="D9DEE4"/>
            </a:solidFill>
            <a:prstDash val="solid"/>
          </a:ln>
        </p:spPr>
      </p:sp>
      <p:pic>
        <p:nvPicPr>
          <p:cNvPr id="31" name="Image 3" descr="/home/claude/pow-deck/icons/alert-triang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8856" y="5596128"/>
            <a:ext cx="256032" cy="256032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7406640" y="5349240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Issue</a:t>
            </a:r>
            <a:endParaRPr lang="en-US" sz="1450" dirty="0"/>
          </a:p>
        </p:txBody>
      </p:sp>
      <p:sp>
        <p:nvSpPr>
          <p:cNvPr id="33" name="Text 27"/>
          <p:cNvSpPr/>
          <p:nvPr/>
        </p:nvSpPr>
        <p:spPr>
          <a:xfrm>
            <a:off x="548640" y="65288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PROOF-OF-WORK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10725912" y="65288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Introducing Proof-Of-Work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70432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decentralized verification ecosystem where workers own their professional identity and organizations can verify authentic contributions.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50976" y="1965960"/>
            <a:ext cx="2331720" cy="1691640"/>
          </a:xfrm>
          <a:prstGeom prst="roundRect">
            <a:avLst>
              <a:gd name="adj" fmla="val 3784"/>
            </a:avLst>
          </a:prstGeom>
          <a:solidFill>
            <a:srgbClr val="F5F6F8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87652" y="2203704"/>
            <a:ext cx="658368" cy="658368"/>
          </a:xfrm>
          <a:prstGeom prst="ellipse">
            <a:avLst/>
          </a:prstGeom>
          <a:solidFill>
            <a:srgbClr val="E7ECF6"/>
          </a:solidFill>
          <a:ln w="12700">
            <a:solidFill>
              <a:srgbClr val="D9DEE4"/>
            </a:solidFill>
            <a:prstDash val="solid"/>
          </a:ln>
        </p:spPr>
      </p:sp>
      <p:pic>
        <p:nvPicPr>
          <p:cNvPr id="6" name="Image 0" descr="/home/claude/pow-deck/icons/id-c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2244" y="2368296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42416" y="301752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Passport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282696" y="2555748"/>
            <a:ext cx="320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3602736" y="1965960"/>
            <a:ext cx="2331720" cy="1691640"/>
          </a:xfrm>
          <a:prstGeom prst="roundRect">
            <a:avLst>
              <a:gd name="adj" fmla="val 3784"/>
            </a:avLst>
          </a:prstGeom>
          <a:solidFill>
            <a:srgbClr val="F5F6F8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39412" y="2203704"/>
            <a:ext cx="658368" cy="658368"/>
          </a:xfrm>
          <a:prstGeom prst="ellipse">
            <a:avLst/>
          </a:prstGeom>
          <a:solidFill>
            <a:srgbClr val="E7ECF6"/>
          </a:solidFill>
          <a:ln w="12700">
            <a:solidFill>
              <a:srgbClr val="D9DEE4"/>
            </a:solidFill>
            <a:prstDash val="solid"/>
          </a:ln>
        </p:spPr>
      </p:sp>
      <p:pic>
        <p:nvPicPr>
          <p:cNvPr id="11" name="Image 1" descr="/home/claude/pow-deck/icons/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4004" y="2368296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94176" y="301752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Verification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934456" y="2555748"/>
            <a:ext cx="320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400" dirty="0"/>
          </a:p>
        </p:txBody>
      </p:sp>
      <p:sp>
        <p:nvSpPr>
          <p:cNvPr id="14" name="Shape 10"/>
          <p:cNvSpPr/>
          <p:nvPr/>
        </p:nvSpPr>
        <p:spPr>
          <a:xfrm>
            <a:off x="6254496" y="1965960"/>
            <a:ext cx="2331720" cy="1691640"/>
          </a:xfrm>
          <a:prstGeom prst="roundRect">
            <a:avLst>
              <a:gd name="adj" fmla="val 3784"/>
            </a:avLst>
          </a:prstGeom>
          <a:solidFill>
            <a:srgbClr val="F5F6F8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091172" y="2203704"/>
            <a:ext cx="658368" cy="658368"/>
          </a:xfrm>
          <a:prstGeom prst="ellipse">
            <a:avLst/>
          </a:prstGeom>
          <a:solidFill>
            <a:srgbClr val="E7ECF6"/>
          </a:solidFill>
          <a:ln w="12700">
            <a:solidFill>
              <a:srgbClr val="D9DEE4"/>
            </a:solidFill>
            <a:prstDash val="solid"/>
          </a:ln>
        </p:spPr>
      </p:sp>
      <p:pic>
        <p:nvPicPr>
          <p:cNvPr id="16" name="Image 2" descr="/home/claude/pow-deck/icons/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5764" y="2368296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45936" y="301752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Records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586216" y="2555748"/>
            <a:ext cx="320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400" dirty="0"/>
          </a:p>
        </p:txBody>
      </p:sp>
      <p:sp>
        <p:nvSpPr>
          <p:cNvPr id="19" name="Shape 14"/>
          <p:cNvSpPr/>
          <p:nvPr/>
        </p:nvSpPr>
        <p:spPr>
          <a:xfrm>
            <a:off x="8906256" y="1965960"/>
            <a:ext cx="2331720" cy="1691640"/>
          </a:xfrm>
          <a:prstGeom prst="roundRect">
            <a:avLst>
              <a:gd name="adj" fmla="val 3784"/>
            </a:avLst>
          </a:prstGeom>
          <a:solidFill>
            <a:srgbClr val="F5F6F8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742932" y="2203704"/>
            <a:ext cx="658368" cy="658368"/>
          </a:xfrm>
          <a:prstGeom prst="ellipse">
            <a:avLst/>
          </a:prstGeom>
          <a:solidFill>
            <a:srgbClr val="E7ECF6"/>
          </a:solidFill>
          <a:ln w="12700">
            <a:solidFill>
              <a:srgbClr val="D9DEE4"/>
            </a:solidFill>
            <a:prstDash val="solid"/>
          </a:ln>
        </p:spPr>
      </p:sp>
      <p:pic>
        <p:nvPicPr>
          <p:cNvPr id="21" name="Image 3" descr="/home/claude/pow-deck/icons/cpu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7524" y="2368296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997696" y="301752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Fraud Detection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6094476" y="3703320"/>
            <a:ext cx="0" cy="502920"/>
          </a:xfrm>
          <a:prstGeom prst="line">
            <a:avLst/>
          </a:prstGeom>
          <a:noFill/>
          <a:ln w="19050">
            <a:solidFill>
              <a:srgbClr val="1B3A66"/>
            </a:solidFill>
            <a:prstDash val="solid"/>
            <a:tailEnd type="triangle"/>
          </a:ln>
        </p:spPr>
      </p:sp>
      <p:sp>
        <p:nvSpPr>
          <p:cNvPr id="24" name="Shape 18"/>
          <p:cNvSpPr/>
          <p:nvPr/>
        </p:nvSpPr>
        <p:spPr>
          <a:xfrm>
            <a:off x="3625596" y="4251960"/>
            <a:ext cx="4937760" cy="685800"/>
          </a:xfrm>
          <a:prstGeom prst="roundRect">
            <a:avLst>
              <a:gd name="adj" fmla="val 9333"/>
            </a:avLst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625596" y="425196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Proof-Of-Work Trust Layer</a:t>
            </a:r>
            <a:endParaRPr lang="en-US" sz="1500" dirty="0"/>
          </a:p>
        </p:txBody>
      </p:sp>
      <p:sp>
        <p:nvSpPr>
          <p:cNvPr id="26" name="Shape 20"/>
          <p:cNvSpPr/>
          <p:nvPr/>
        </p:nvSpPr>
        <p:spPr>
          <a:xfrm>
            <a:off x="6094476" y="4983480"/>
            <a:ext cx="0" cy="365760"/>
          </a:xfrm>
          <a:prstGeom prst="line">
            <a:avLst/>
          </a:prstGeom>
          <a:noFill/>
          <a:ln w="19050">
            <a:solidFill>
              <a:srgbClr val="1B3A66"/>
            </a:solidFill>
            <a:prstDash val="solid"/>
            <a:tailEnd type="triangle"/>
          </a:ln>
        </p:spPr>
      </p:sp>
      <p:sp>
        <p:nvSpPr>
          <p:cNvPr id="27" name="Text 21"/>
          <p:cNvSpPr/>
          <p:nvPr/>
        </p:nvSpPr>
        <p:spPr>
          <a:xfrm>
            <a:off x="2802636" y="539496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· Portable · Independently Trusted Work History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548640" y="65288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PROOF-OF-WORK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0725912" y="65288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of Current Approaches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120640" cy="4709160"/>
          </a:xfrm>
          <a:prstGeom prst="roundRect">
            <a:avLst>
              <a:gd name="adj" fmla="val 1359"/>
            </a:avLst>
          </a:prstGeom>
          <a:solidFill>
            <a:srgbClr val="F5F6F8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89320" y="1417320"/>
            <a:ext cx="5120640" cy="4709160"/>
          </a:xfrm>
          <a:prstGeom prst="roundRect">
            <a:avLst>
              <a:gd name="adj" fmla="val 1359"/>
            </a:avLst>
          </a:prstGeom>
          <a:solidFill>
            <a:srgbClr val="E7ECF6"/>
          </a:solidFill>
          <a:ln w="12700">
            <a:solidFill>
              <a:srgbClr val="C3D0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916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SYSTEM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09360" y="16916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32688" y="235000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DEE4"/>
            </a:solidFill>
            <a:prstDash val="solid"/>
          </a:ln>
        </p:spPr>
      </p:sp>
      <p:pic>
        <p:nvPicPr>
          <p:cNvPr id="8" name="Image 0" descr="/home/claude/pow-deck/icons/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099" y="2436419"/>
            <a:ext cx="211226" cy="21122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35608" y="2286000"/>
            <a:ext cx="3703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databases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932688" y="3191256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DEE4"/>
            </a:solidFill>
            <a:prstDash val="solid"/>
          </a:ln>
        </p:spPr>
      </p:sp>
      <p:pic>
        <p:nvPicPr>
          <p:cNvPr id="11" name="Image 1" descr="/home/claude/pow-deck/icons/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099" y="3277667"/>
            <a:ext cx="211226" cy="21122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35608" y="3127248"/>
            <a:ext cx="3703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controlled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932688" y="4032504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DEE4"/>
            </a:solidFill>
            <a:prstDash val="solid"/>
          </a:ln>
        </p:spPr>
      </p:sp>
      <p:pic>
        <p:nvPicPr>
          <p:cNvPr id="14" name="Image 2" descr="/home/claude/pow-deck/icons/x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099" y="4118915"/>
            <a:ext cx="211226" cy="21122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35608" y="3968496"/>
            <a:ext cx="3703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portability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932688" y="4873752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DEE4"/>
            </a:solidFill>
            <a:prstDash val="solid"/>
          </a:ln>
        </p:spPr>
      </p:sp>
      <p:pic>
        <p:nvPicPr>
          <p:cNvPr id="17" name="Image 3" descr="/home/claude/pow-deck/icons/x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099" y="4960163"/>
            <a:ext cx="211226" cy="21122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35608" y="4809744"/>
            <a:ext cx="3703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transparency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6373368" y="235000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DEE4"/>
            </a:solidFill>
            <a:prstDash val="solid"/>
          </a:ln>
        </p:spPr>
      </p:sp>
      <p:pic>
        <p:nvPicPr>
          <p:cNvPr id="20" name="Image 4" descr="/home/claude/pow-deck/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9779" y="2436419"/>
            <a:ext cx="211226" cy="21122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876288" y="2286000"/>
            <a:ext cx="3703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Worker-owned identity</a:t>
            </a:r>
            <a:endParaRPr lang="en-US" sz="1400" dirty="0"/>
          </a:p>
        </p:txBody>
      </p:sp>
      <p:sp>
        <p:nvSpPr>
          <p:cNvPr id="22" name="Shape 15"/>
          <p:cNvSpPr/>
          <p:nvPr/>
        </p:nvSpPr>
        <p:spPr>
          <a:xfrm>
            <a:off x="6373368" y="3191256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DEE4"/>
            </a:solidFill>
            <a:prstDash val="solid"/>
          </a:ln>
        </p:spPr>
      </p:sp>
      <p:pic>
        <p:nvPicPr>
          <p:cNvPr id="23" name="Image 5" descr="/home/claude/pow-deck/icons/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9779" y="3277667"/>
            <a:ext cx="211226" cy="211226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876288" y="3127248"/>
            <a:ext cx="3703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verification</a:t>
            </a:r>
            <a:endParaRPr lang="en-US" sz="1400" dirty="0"/>
          </a:p>
        </p:txBody>
      </p:sp>
      <p:sp>
        <p:nvSpPr>
          <p:cNvPr id="25" name="Shape 17"/>
          <p:cNvSpPr/>
          <p:nvPr/>
        </p:nvSpPr>
        <p:spPr>
          <a:xfrm>
            <a:off x="6373368" y="4032504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DEE4"/>
            </a:solidFill>
            <a:prstDash val="solid"/>
          </a:ln>
        </p:spPr>
      </p:sp>
      <p:pic>
        <p:nvPicPr>
          <p:cNvPr id="26" name="Image 6" descr="/home/claude/pow-deck/icons/che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59779" y="4118915"/>
            <a:ext cx="211226" cy="211226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6876288" y="3968496"/>
            <a:ext cx="3703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reputation</a:t>
            </a:r>
            <a:endParaRPr lang="en-US" sz="1400" dirty="0"/>
          </a:p>
        </p:txBody>
      </p:sp>
      <p:sp>
        <p:nvSpPr>
          <p:cNvPr id="28" name="Shape 19"/>
          <p:cNvSpPr/>
          <p:nvPr/>
        </p:nvSpPr>
        <p:spPr>
          <a:xfrm>
            <a:off x="6373368" y="4873752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DEE4"/>
            </a:solidFill>
            <a:prstDash val="solid"/>
          </a:ln>
        </p:spPr>
      </p:sp>
      <p:pic>
        <p:nvPicPr>
          <p:cNvPr id="29" name="Image 7" descr="/home/claude/pow-deck/icons/chec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59779" y="4960163"/>
            <a:ext cx="211226" cy="211226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6876288" y="4809744"/>
            <a:ext cx="3703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records</a:t>
            </a:r>
            <a:endParaRPr lang="en-US" sz="1400" dirty="0"/>
          </a:p>
        </p:txBody>
      </p:sp>
      <p:sp>
        <p:nvSpPr>
          <p:cNvPr id="31" name="Text 21"/>
          <p:cNvSpPr/>
          <p:nvPr/>
        </p:nvSpPr>
        <p:spPr>
          <a:xfrm>
            <a:off x="548640" y="65288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PROOF-OF-WORK</a:t>
            </a:r>
            <a:endParaRPr lang="en-US" sz="900" dirty="0"/>
          </a:p>
        </p:txBody>
      </p:sp>
      <p:sp>
        <p:nvSpPr>
          <p:cNvPr id="32" name="Text 22"/>
          <p:cNvSpPr/>
          <p:nvPr/>
        </p:nvSpPr>
        <p:spPr>
          <a:xfrm>
            <a:off x="10725912" y="65288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System Works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59536" y="1874520"/>
            <a:ext cx="2377440" cy="1051560"/>
          </a:xfrm>
          <a:prstGeom prst="roundRect">
            <a:avLst>
              <a:gd name="adj" fmla="val 6087"/>
            </a:avLst>
          </a:prstGeom>
          <a:solidFill>
            <a:srgbClr val="F5F6F8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19656" y="2011680"/>
            <a:ext cx="457200" cy="457200"/>
          </a:xfrm>
          <a:prstGeom prst="ellipse">
            <a:avLst/>
          </a:prstGeom>
          <a:solidFill>
            <a:srgbClr val="E7ECF6"/>
          </a:solidFill>
          <a:ln w="12700">
            <a:solidFill>
              <a:srgbClr val="D9DEE4"/>
            </a:solidFill>
            <a:prstDash val="solid"/>
          </a:ln>
        </p:spPr>
      </p:sp>
      <p:pic>
        <p:nvPicPr>
          <p:cNvPr id="5" name="Image 0" descr="/home/claude/pow-deck/icons/us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3956" y="2125980"/>
            <a:ext cx="228600" cy="228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50976" y="249631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3273552" y="2400300"/>
            <a:ext cx="246888" cy="0"/>
          </a:xfrm>
          <a:prstGeom prst="line">
            <a:avLst/>
          </a:prstGeom>
          <a:noFill/>
          <a:ln w="17780">
            <a:solidFill>
              <a:srgbClr val="1B3A66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3557016" y="1874520"/>
            <a:ext cx="2377440" cy="1051560"/>
          </a:xfrm>
          <a:prstGeom prst="roundRect">
            <a:avLst>
              <a:gd name="adj" fmla="val 6087"/>
            </a:avLst>
          </a:prstGeom>
          <a:solidFill>
            <a:srgbClr val="F5F6F8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17136" y="2011680"/>
            <a:ext cx="457200" cy="457200"/>
          </a:xfrm>
          <a:prstGeom prst="ellipse">
            <a:avLst/>
          </a:prstGeom>
          <a:solidFill>
            <a:srgbClr val="E7ECF6"/>
          </a:solidFill>
          <a:ln w="12700">
            <a:solidFill>
              <a:srgbClr val="D9DEE4"/>
            </a:solidFill>
            <a:prstDash val="solid"/>
          </a:ln>
        </p:spPr>
      </p:sp>
      <p:pic>
        <p:nvPicPr>
          <p:cNvPr id="10" name="Image 1" descr="/home/claude/pow-deck/icons/id-c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1436" y="212598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648456" y="249631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Passport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971032" y="2400300"/>
            <a:ext cx="246888" cy="0"/>
          </a:xfrm>
          <a:prstGeom prst="line">
            <a:avLst/>
          </a:prstGeom>
          <a:noFill/>
          <a:ln w="17780">
            <a:solidFill>
              <a:srgbClr val="1B3A66"/>
            </a:solidFill>
            <a:prstDash val="solid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6254496" y="1874520"/>
            <a:ext cx="2377440" cy="1051560"/>
          </a:xfrm>
          <a:prstGeom prst="roundRect">
            <a:avLst>
              <a:gd name="adj" fmla="val 6087"/>
            </a:avLst>
          </a:prstGeom>
          <a:solidFill>
            <a:srgbClr val="F5F6F8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214616" y="2011680"/>
            <a:ext cx="457200" cy="457200"/>
          </a:xfrm>
          <a:prstGeom prst="ellipse">
            <a:avLst/>
          </a:prstGeom>
          <a:solidFill>
            <a:srgbClr val="E7ECF6"/>
          </a:solidFill>
          <a:ln w="12700">
            <a:solidFill>
              <a:srgbClr val="D9DEE4"/>
            </a:solidFill>
            <a:prstDash val="solid"/>
          </a:ln>
        </p:spPr>
      </p:sp>
      <p:pic>
        <p:nvPicPr>
          <p:cNvPr id="15" name="Image 2" descr="/home/claude/pow-deck/icons/uploa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8916" y="2125980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45936" y="249631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Submission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8668512" y="2400300"/>
            <a:ext cx="246888" cy="0"/>
          </a:xfrm>
          <a:prstGeom prst="line">
            <a:avLst/>
          </a:prstGeom>
          <a:noFill/>
          <a:ln w="17780">
            <a:solidFill>
              <a:srgbClr val="1B3A66"/>
            </a:solidFill>
            <a:prstDash val="solid"/>
            <a:tailEnd type="triangle"/>
          </a:ln>
        </p:spPr>
      </p:sp>
      <p:sp>
        <p:nvSpPr>
          <p:cNvPr id="18" name="Shape 13"/>
          <p:cNvSpPr/>
          <p:nvPr/>
        </p:nvSpPr>
        <p:spPr>
          <a:xfrm>
            <a:off x="8951976" y="1874520"/>
            <a:ext cx="2377440" cy="1051560"/>
          </a:xfrm>
          <a:prstGeom prst="roundRect">
            <a:avLst>
              <a:gd name="adj" fmla="val 6087"/>
            </a:avLst>
          </a:prstGeom>
          <a:solidFill>
            <a:srgbClr val="F5F6F8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9912096" y="2011680"/>
            <a:ext cx="457200" cy="457200"/>
          </a:xfrm>
          <a:prstGeom prst="ellipse">
            <a:avLst/>
          </a:prstGeom>
          <a:solidFill>
            <a:srgbClr val="E7ECF6"/>
          </a:solidFill>
          <a:ln w="12700">
            <a:solidFill>
              <a:srgbClr val="D9DEE4"/>
            </a:solidFill>
            <a:prstDash val="solid"/>
          </a:ln>
        </p:spPr>
      </p:sp>
      <p:pic>
        <p:nvPicPr>
          <p:cNvPr id="20" name="Image 3" descr="/home/claude/pow-deck/icons/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6396" y="2125980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043416" y="249631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Verification Layer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10140696" y="2962656"/>
            <a:ext cx="0" cy="841248"/>
          </a:xfrm>
          <a:prstGeom prst="line">
            <a:avLst/>
          </a:prstGeom>
          <a:noFill/>
          <a:ln w="17780">
            <a:solidFill>
              <a:srgbClr val="1B3A66"/>
            </a:solidFill>
            <a:prstDash val="solid"/>
            <a:tailEnd type="triangle"/>
          </a:ln>
        </p:spPr>
      </p:sp>
      <p:sp>
        <p:nvSpPr>
          <p:cNvPr id="23" name="Shape 17"/>
          <p:cNvSpPr/>
          <p:nvPr/>
        </p:nvSpPr>
        <p:spPr>
          <a:xfrm>
            <a:off x="8951976" y="3840480"/>
            <a:ext cx="2377440" cy="1051560"/>
          </a:xfrm>
          <a:prstGeom prst="roundRect">
            <a:avLst>
              <a:gd name="adj" fmla="val 6087"/>
            </a:avLst>
          </a:prstGeom>
          <a:solidFill>
            <a:srgbClr val="E7ECF6"/>
          </a:solidFill>
          <a:ln w="12700">
            <a:solidFill>
              <a:srgbClr val="C3D0E6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9912096" y="397764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DEE4"/>
            </a:solidFill>
            <a:prstDash val="solid"/>
          </a:ln>
        </p:spPr>
      </p:sp>
      <p:pic>
        <p:nvPicPr>
          <p:cNvPr id="25" name="Image 4" descr="/home/claude/pow-deck/icons/databas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26396" y="4091940"/>
            <a:ext cx="228600" cy="2286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025128" y="4462272"/>
            <a:ext cx="2231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Record Storage</a:t>
            </a:r>
            <a:endParaRPr lang="en-US" sz="1150" dirty="0"/>
          </a:p>
        </p:txBody>
      </p:sp>
      <p:sp>
        <p:nvSpPr>
          <p:cNvPr id="27" name="Shape 20"/>
          <p:cNvSpPr/>
          <p:nvPr/>
        </p:nvSpPr>
        <p:spPr>
          <a:xfrm>
            <a:off x="8915400" y="4366260"/>
            <a:ext cx="-246888" cy="0"/>
          </a:xfrm>
          <a:prstGeom prst="line">
            <a:avLst/>
          </a:prstGeom>
          <a:noFill/>
          <a:ln w="17780">
            <a:solidFill>
              <a:srgbClr val="1B3A66"/>
            </a:solidFill>
            <a:prstDash val="solid"/>
            <a:headEnd type="triangle"/>
          </a:ln>
        </p:spPr>
      </p:sp>
      <p:sp>
        <p:nvSpPr>
          <p:cNvPr id="28" name="Shape 21"/>
          <p:cNvSpPr/>
          <p:nvPr/>
        </p:nvSpPr>
        <p:spPr>
          <a:xfrm>
            <a:off x="6254496" y="3840480"/>
            <a:ext cx="2377440" cy="1051560"/>
          </a:xfrm>
          <a:prstGeom prst="roundRect">
            <a:avLst>
              <a:gd name="adj" fmla="val 6087"/>
            </a:avLst>
          </a:prstGeom>
          <a:solidFill>
            <a:srgbClr val="E7ECF6"/>
          </a:solidFill>
          <a:ln w="12700">
            <a:solidFill>
              <a:srgbClr val="C3D0E6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7214616" y="397764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DEE4"/>
            </a:solidFill>
            <a:prstDash val="solid"/>
          </a:ln>
        </p:spPr>
      </p:sp>
      <p:pic>
        <p:nvPicPr>
          <p:cNvPr id="30" name="Image 5" descr="/home/claude/pow-deck/icons/cpu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8916" y="4091940"/>
            <a:ext cx="228600" cy="22860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327648" y="4462272"/>
            <a:ext cx="2231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Anomaly Detection</a:t>
            </a:r>
            <a:endParaRPr lang="en-US" sz="1150" dirty="0"/>
          </a:p>
        </p:txBody>
      </p:sp>
      <p:sp>
        <p:nvSpPr>
          <p:cNvPr id="32" name="Shape 24"/>
          <p:cNvSpPr/>
          <p:nvPr/>
        </p:nvSpPr>
        <p:spPr>
          <a:xfrm>
            <a:off x="6217920" y="4366260"/>
            <a:ext cx="-246888" cy="0"/>
          </a:xfrm>
          <a:prstGeom prst="line">
            <a:avLst/>
          </a:prstGeom>
          <a:noFill/>
          <a:ln w="17780">
            <a:solidFill>
              <a:srgbClr val="1B3A66"/>
            </a:solidFill>
            <a:prstDash val="solid"/>
            <a:headEnd type="triangle"/>
          </a:ln>
        </p:spPr>
      </p:sp>
      <p:sp>
        <p:nvSpPr>
          <p:cNvPr id="33" name="Shape 25"/>
          <p:cNvSpPr/>
          <p:nvPr/>
        </p:nvSpPr>
        <p:spPr>
          <a:xfrm>
            <a:off x="3557016" y="3840480"/>
            <a:ext cx="2377440" cy="1051560"/>
          </a:xfrm>
          <a:prstGeom prst="roundRect">
            <a:avLst>
              <a:gd name="adj" fmla="val 6087"/>
            </a:avLst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4517136" y="3977640"/>
            <a:ext cx="457200" cy="457200"/>
          </a:xfrm>
          <a:prstGeom prst="ellipse">
            <a:avLst/>
          </a:prstGeom>
          <a:solidFill>
            <a:srgbClr val="1F3E6E"/>
          </a:solidFill>
          <a:ln w="12700">
            <a:solidFill>
              <a:srgbClr val="D9DEE4"/>
            </a:solidFill>
            <a:prstDash val="solid"/>
          </a:ln>
        </p:spPr>
      </p:sp>
      <p:pic>
        <p:nvPicPr>
          <p:cNvPr id="35" name="Image 6" descr="/home/claude/pow-deck/icons/trending-u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1436" y="4091940"/>
            <a:ext cx="228600" cy="228600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3630168" y="4462272"/>
            <a:ext cx="2231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Score / Supply Chain Verification</a:t>
            </a:r>
            <a:endParaRPr lang="en-US" sz="1050" dirty="0"/>
          </a:p>
        </p:txBody>
      </p:sp>
      <p:sp>
        <p:nvSpPr>
          <p:cNvPr id="37" name="Text 28"/>
          <p:cNvSpPr/>
          <p:nvPr/>
        </p:nvSpPr>
        <p:spPr>
          <a:xfrm>
            <a:off x="548640" y="65288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PROOF-OF-WORK</a:t>
            </a:r>
            <a:endParaRPr lang="en-US" sz="900" dirty="0"/>
          </a:p>
        </p:txBody>
      </p:sp>
      <p:sp>
        <p:nvSpPr>
          <p:cNvPr id="38" name="Text 29"/>
          <p:cNvSpPr/>
          <p:nvPr/>
        </p:nvSpPr>
        <p:spPr>
          <a:xfrm>
            <a:off x="10725912" y="65288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Features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16636" y="1828800"/>
            <a:ext cx="2084832" cy="3246120"/>
          </a:xfrm>
          <a:prstGeom prst="roundRect">
            <a:avLst>
              <a:gd name="adj" fmla="val 3070"/>
            </a:avLst>
          </a:prstGeom>
          <a:solidFill>
            <a:srgbClr val="F5F6F8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0432" y="2125980"/>
            <a:ext cx="777240" cy="777240"/>
          </a:xfrm>
          <a:prstGeom prst="ellipse">
            <a:avLst/>
          </a:prstGeom>
          <a:solidFill>
            <a:srgbClr val="E7ECF6"/>
          </a:solidFill>
          <a:ln w="12700">
            <a:solidFill>
              <a:srgbClr val="D9DEE4"/>
            </a:solidFill>
            <a:prstDash val="solid"/>
          </a:ln>
        </p:spPr>
      </p:sp>
      <p:pic>
        <p:nvPicPr>
          <p:cNvPr id="5" name="Image 0" descr="/home/claude/pow-deck/icons/id-c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4742" y="2320290"/>
            <a:ext cx="388620" cy="3886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4652" y="31546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Passport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62940" y="3749040"/>
            <a:ext cx="1792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identity for professional history.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784348" y="1828800"/>
            <a:ext cx="2084832" cy="3246120"/>
          </a:xfrm>
          <a:prstGeom prst="roundRect">
            <a:avLst>
              <a:gd name="adj" fmla="val 3070"/>
            </a:avLst>
          </a:prstGeom>
          <a:solidFill>
            <a:srgbClr val="F5F6F8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38144" y="2125980"/>
            <a:ext cx="777240" cy="777240"/>
          </a:xfrm>
          <a:prstGeom prst="ellipse">
            <a:avLst/>
          </a:prstGeom>
          <a:solidFill>
            <a:srgbClr val="E7ECF6"/>
          </a:solidFill>
          <a:ln w="12700">
            <a:solidFill>
              <a:srgbClr val="D9DEE4"/>
            </a:solidFill>
            <a:prstDash val="solid"/>
          </a:ln>
        </p:spPr>
      </p:sp>
      <p:pic>
        <p:nvPicPr>
          <p:cNvPr id="10" name="Image 1" descr="/home/claude/pow-deck/icons/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2454" y="2320290"/>
            <a:ext cx="388620" cy="3886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912364" y="31546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Verification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2930652" y="3749040"/>
            <a:ext cx="1792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Community-driven validation of contributions.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052060" y="1828800"/>
            <a:ext cx="2084832" cy="3246120"/>
          </a:xfrm>
          <a:prstGeom prst="roundRect">
            <a:avLst>
              <a:gd name="adj" fmla="val 3070"/>
            </a:avLst>
          </a:prstGeom>
          <a:solidFill>
            <a:srgbClr val="F5F6F8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705856" y="2125980"/>
            <a:ext cx="777240" cy="777240"/>
          </a:xfrm>
          <a:prstGeom prst="ellipse">
            <a:avLst/>
          </a:prstGeom>
          <a:solidFill>
            <a:srgbClr val="E7ECF6"/>
          </a:solidFill>
          <a:ln w="12700">
            <a:solidFill>
              <a:srgbClr val="D9DEE4"/>
            </a:solidFill>
            <a:prstDash val="solid"/>
          </a:ln>
        </p:spPr>
      </p:sp>
      <p:pic>
        <p:nvPicPr>
          <p:cNvPr id="15" name="Image 2" descr="/home/claude/pow-deck/icons/l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0166" y="2320290"/>
            <a:ext cx="388620" cy="3886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180076" y="31546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Records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5198364" y="3749040"/>
            <a:ext cx="1792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Tamper-resistant verification history.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7319772" y="1828800"/>
            <a:ext cx="2084832" cy="3246120"/>
          </a:xfrm>
          <a:prstGeom prst="roundRect">
            <a:avLst>
              <a:gd name="adj" fmla="val 3070"/>
            </a:avLst>
          </a:prstGeom>
          <a:solidFill>
            <a:srgbClr val="F5F6F8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973568" y="2125980"/>
            <a:ext cx="777240" cy="777240"/>
          </a:xfrm>
          <a:prstGeom prst="ellipse">
            <a:avLst/>
          </a:prstGeom>
          <a:solidFill>
            <a:srgbClr val="E7ECF6"/>
          </a:solidFill>
          <a:ln w="12700">
            <a:solidFill>
              <a:srgbClr val="D9DEE4"/>
            </a:solidFill>
            <a:prstDash val="solid"/>
          </a:ln>
        </p:spPr>
      </p:sp>
      <p:pic>
        <p:nvPicPr>
          <p:cNvPr id="20" name="Image 3" descr="/home/claude/pow-deck/icons/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7878" y="2320290"/>
            <a:ext cx="388620" cy="3886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447788" y="31546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Fraud Detection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7466076" y="3749040"/>
            <a:ext cx="1792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suspicious verification patterns.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9587484" y="1828800"/>
            <a:ext cx="2084832" cy="3246120"/>
          </a:xfrm>
          <a:prstGeom prst="roundRect">
            <a:avLst>
              <a:gd name="adj" fmla="val 3070"/>
            </a:avLst>
          </a:prstGeom>
          <a:solidFill>
            <a:srgbClr val="F5F6F8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10241280" y="2125980"/>
            <a:ext cx="777240" cy="777240"/>
          </a:xfrm>
          <a:prstGeom prst="ellipse">
            <a:avLst/>
          </a:prstGeom>
          <a:solidFill>
            <a:srgbClr val="E7ECF6"/>
          </a:solidFill>
          <a:ln w="12700">
            <a:solidFill>
              <a:srgbClr val="D9DEE4"/>
            </a:solidFill>
            <a:prstDash val="solid"/>
          </a:ln>
        </p:spPr>
      </p:sp>
      <p:pic>
        <p:nvPicPr>
          <p:cNvPr id="25" name="Image 4" descr="/home/claude/pow-deck/icons/tru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35590" y="2320290"/>
            <a:ext cx="388620" cy="38862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715500" y="31546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Transparency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9733788" y="3749040"/>
            <a:ext cx="1792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products with verified labor.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548640" y="65288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PROOF-OF-WORK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0725912" y="65288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Intelligent Trust Monitoring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70432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layer analyzes verification behavior to detect anomalies.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EXAMPLES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459736"/>
            <a:ext cx="91440" cy="9144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322576"/>
            <a:ext cx="4956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7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validator patterns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118104"/>
            <a:ext cx="91440" cy="9144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980944"/>
            <a:ext cx="4956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7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contribution claims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776472"/>
            <a:ext cx="91440" cy="9144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3639312"/>
            <a:ext cx="4956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7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working hours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434840"/>
            <a:ext cx="91440" cy="9144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4297680"/>
            <a:ext cx="4956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7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inconsistencies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5093208"/>
            <a:ext cx="91440" cy="9144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" y="4956048"/>
            <a:ext cx="4956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7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Abnormal activity frequency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46520" y="1920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46520" y="2743200"/>
            <a:ext cx="1188720" cy="1188720"/>
          </a:xfrm>
          <a:prstGeom prst="ellipse">
            <a:avLst/>
          </a:prstGeom>
          <a:solidFill>
            <a:srgbClr val="E7ECF6"/>
          </a:solidFill>
          <a:ln w="12700">
            <a:solidFill>
              <a:srgbClr val="C3D0E6"/>
            </a:solidFill>
            <a:prstDash val="solid"/>
          </a:ln>
        </p:spPr>
      </p:sp>
      <p:pic>
        <p:nvPicPr>
          <p:cNvPr id="17" name="Image 0" descr="/home/claude/pow-deck/icon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1249" y="3014777"/>
            <a:ext cx="499262" cy="499262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126480" y="40233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Input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7680960" y="3337560"/>
            <a:ext cx="365760" cy="0"/>
          </a:xfrm>
          <a:prstGeom prst="line">
            <a:avLst/>
          </a:prstGeom>
          <a:noFill/>
          <a:ln w="17780">
            <a:solidFill>
              <a:srgbClr val="1B3A66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8092440" y="2743200"/>
            <a:ext cx="1188720" cy="1188720"/>
          </a:xfrm>
          <a:prstGeom prst="ellipse">
            <a:avLst/>
          </a:prstGeom>
          <a:solidFill>
            <a:srgbClr val="E7ECF6"/>
          </a:solidFill>
          <a:ln w="12700">
            <a:solidFill>
              <a:srgbClr val="C3D0E6"/>
            </a:solidFill>
            <a:prstDash val="solid"/>
          </a:ln>
        </p:spPr>
      </p:sp>
      <p:pic>
        <p:nvPicPr>
          <p:cNvPr id="21" name="Image 1" descr="/home/claude/pow-deck/icons/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7169" y="3014777"/>
            <a:ext cx="499262" cy="49926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772400" y="40233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Analysis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9326880" y="3337560"/>
            <a:ext cx="365760" cy="0"/>
          </a:xfrm>
          <a:prstGeom prst="line">
            <a:avLst/>
          </a:prstGeom>
          <a:noFill/>
          <a:ln w="17780">
            <a:solidFill>
              <a:srgbClr val="1B3A66"/>
            </a:solidFill>
            <a:prstDash val="solid"/>
            <a:tailEnd type="triangle"/>
          </a:ln>
        </p:spPr>
      </p:sp>
      <p:sp>
        <p:nvSpPr>
          <p:cNvPr id="24" name="Shape 20"/>
          <p:cNvSpPr/>
          <p:nvPr/>
        </p:nvSpPr>
        <p:spPr>
          <a:xfrm>
            <a:off x="9738360" y="2743200"/>
            <a:ext cx="1188720" cy="1188720"/>
          </a:xfrm>
          <a:prstGeom prst="ellipse">
            <a:avLst/>
          </a:prstGeom>
          <a:solidFill>
            <a:srgbClr val="E7ECF6"/>
          </a:solidFill>
          <a:ln w="12700">
            <a:solidFill>
              <a:srgbClr val="C3D0E6"/>
            </a:solidFill>
            <a:prstDash val="solid"/>
          </a:ln>
        </p:spPr>
      </p:sp>
      <p:pic>
        <p:nvPicPr>
          <p:cNvPr id="25" name="Image 2" descr="/home/claude/pow-deck/icons/alert-triang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3089" y="3014777"/>
            <a:ext cx="499262" cy="49926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9418320" y="40233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10972800" y="3337560"/>
            <a:ext cx="365760" cy="0"/>
          </a:xfrm>
          <a:prstGeom prst="line">
            <a:avLst/>
          </a:prstGeom>
          <a:noFill/>
          <a:ln w="17780">
            <a:solidFill>
              <a:srgbClr val="1B3A66"/>
            </a:solidFill>
            <a:prstDash val="solid"/>
            <a:tailEnd type="triangle"/>
          </a:ln>
        </p:spPr>
      </p:sp>
      <p:sp>
        <p:nvSpPr>
          <p:cNvPr id="28" name="Shape 23"/>
          <p:cNvSpPr/>
          <p:nvPr/>
        </p:nvSpPr>
        <p:spPr>
          <a:xfrm>
            <a:off x="11384280" y="2743200"/>
            <a:ext cx="1188720" cy="1188720"/>
          </a:xfrm>
          <a:prstGeom prst="ellipse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pic>
        <p:nvPicPr>
          <p:cNvPr id="29" name="Image 3" descr="/home/claude/pow-deck/icons/bel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29009" y="3014777"/>
            <a:ext cx="499262" cy="49926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1064240" y="40233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050" dirty="0"/>
          </a:p>
        </p:txBody>
      </p:sp>
      <p:sp>
        <p:nvSpPr>
          <p:cNvPr id="31" name="Text 25"/>
          <p:cNvSpPr/>
          <p:nvPr/>
        </p:nvSpPr>
        <p:spPr>
          <a:xfrm>
            <a:off x="6446520" y="4800600"/>
            <a:ext cx="5166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 are scored and routed for review before they affect a worker's trust profile.</a:t>
            </a:r>
            <a:endParaRPr lang="en-US" sz="1150" dirty="0"/>
          </a:p>
        </p:txBody>
      </p:sp>
      <p:sp>
        <p:nvSpPr>
          <p:cNvPr id="32" name="Text 26"/>
          <p:cNvSpPr/>
          <p:nvPr/>
        </p:nvSpPr>
        <p:spPr>
          <a:xfrm>
            <a:off x="548640" y="65288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PROOF-OF-WORK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10725912" y="65288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16636" y="1783080"/>
            <a:ext cx="2084832" cy="3566160"/>
          </a:xfrm>
          <a:prstGeom prst="roundRect">
            <a:avLst>
              <a:gd name="adj" fmla="val 3070"/>
            </a:avLst>
          </a:prstGeom>
          <a:solidFill>
            <a:srgbClr val="F5F6F8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2436" y="2084832"/>
            <a:ext cx="713232" cy="713232"/>
          </a:xfrm>
          <a:prstGeom prst="ellipse">
            <a:avLst/>
          </a:prstGeom>
          <a:solidFill>
            <a:srgbClr val="E7ECF6"/>
          </a:solidFill>
          <a:ln w="12700">
            <a:solidFill>
              <a:srgbClr val="D9DEE4"/>
            </a:solidFill>
            <a:prstDash val="solid"/>
          </a:ln>
        </p:spPr>
      </p:sp>
      <p:pic>
        <p:nvPicPr>
          <p:cNvPr id="5" name="Image 0" descr="/home/claude/pow-deck/icons/moni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0744" y="2263140"/>
            <a:ext cx="356616" cy="3566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8076" y="301752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44652" y="3474720"/>
            <a:ext cx="1828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784348" y="1783080"/>
            <a:ext cx="2084832" cy="3566160"/>
          </a:xfrm>
          <a:prstGeom prst="roundRect">
            <a:avLst>
              <a:gd name="adj" fmla="val 3070"/>
            </a:avLst>
          </a:prstGeom>
          <a:solidFill>
            <a:srgbClr val="F5F6F8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70148" y="2084832"/>
            <a:ext cx="713232" cy="713232"/>
          </a:xfrm>
          <a:prstGeom prst="ellipse">
            <a:avLst/>
          </a:prstGeom>
          <a:solidFill>
            <a:srgbClr val="E7ECF6"/>
          </a:solidFill>
          <a:ln w="12700">
            <a:solidFill>
              <a:srgbClr val="D9DEE4"/>
            </a:solidFill>
            <a:prstDash val="solid"/>
          </a:ln>
        </p:spPr>
      </p:sp>
      <p:pic>
        <p:nvPicPr>
          <p:cNvPr id="10" name="Image 1" descr="/home/claude/pow-deck/icons/ser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8456" y="2263140"/>
            <a:ext cx="356616" cy="35661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875788" y="301752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2912364" y="3474720"/>
            <a:ext cx="1828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Logic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052060" y="1783080"/>
            <a:ext cx="2084832" cy="3566160"/>
          </a:xfrm>
          <a:prstGeom prst="roundRect">
            <a:avLst>
              <a:gd name="adj" fmla="val 3070"/>
            </a:avLst>
          </a:prstGeom>
          <a:solidFill>
            <a:srgbClr val="F5F6F8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737860" y="2084832"/>
            <a:ext cx="713232" cy="713232"/>
          </a:xfrm>
          <a:prstGeom prst="ellipse">
            <a:avLst/>
          </a:prstGeom>
          <a:solidFill>
            <a:srgbClr val="E7ECF6"/>
          </a:solidFill>
          <a:ln w="12700">
            <a:solidFill>
              <a:srgbClr val="D9DEE4"/>
            </a:solidFill>
            <a:prstDash val="solid"/>
          </a:ln>
        </p:spPr>
      </p:sp>
      <p:pic>
        <p:nvPicPr>
          <p:cNvPr id="15" name="Image 2" descr="/home/claude/pow-deck/icons/l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6168" y="2263140"/>
            <a:ext cx="356616" cy="35661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143500" y="301752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5180076" y="3474720"/>
            <a:ext cx="1828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 Concepts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Decentralized Identity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7319772" y="1783080"/>
            <a:ext cx="2084832" cy="3566160"/>
          </a:xfrm>
          <a:prstGeom prst="roundRect">
            <a:avLst>
              <a:gd name="adj" fmla="val 3070"/>
            </a:avLst>
          </a:prstGeom>
          <a:solidFill>
            <a:srgbClr val="F5F6F8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005572" y="2084832"/>
            <a:ext cx="713232" cy="713232"/>
          </a:xfrm>
          <a:prstGeom prst="ellipse">
            <a:avLst/>
          </a:prstGeom>
          <a:solidFill>
            <a:srgbClr val="E7ECF6"/>
          </a:solidFill>
          <a:ln w="12700">
            <a:solidFill>
              <a:srgbClr val="D9DEE4"/>
            </a:solidFill>
            <a:prstDash val="solid"/>
          </a:ln>
        </p:spPr>
      </p:sp>
      <p:pic>
        <p:nvPicPr>
          <p:cNvPr id="20" name="Image 3" descr="/home/claude/pow-deck/icons/cpu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80" y="2263140"/>
            <a:ext cx="356616" cy="35661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411212" y="301752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7447788" y="3474720"/>
            <a:ext cx="1828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9587484" y="1783080"/>
            <a:ext cx="2084832" cy="3566160"/>
          </a:xfrm>
          <a:prstGeom prst="roundRect">
            <a:avLst>
              <a:gd name="adj" fmla="val 3070"/>
            </a:avLst>
          </a:prstGeom>
          <a:solidFill>
            <a:srgbClr val="F5F6F8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10273284" y="2084832"/>
            <a:ext cx="713232" cy="713232"/>
          </a:xfrm>
          <a:prstGeom prst="ellipse">
            <a:avLst/>
          </a:prstGeom>
          <a:solidFill>
            <a:srgbClr val="E7ECF6"/>
          </a:solidFill>
          <a:ln w="12700">
            <a:solidFill>
              <a:srgbClr val="D9DEE4"/>
            </a:solidFill>
            <a:prstDash val="solid"/>
          </a:ln>
        </p:spPr>
      </p:sp>
      <p:pic>
        <p:nvPicPr>
          <p:cNvPr id="25" name="Image 4" descr="/home/claude/pow-deck/icons/box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51592" y="2263140"/>
            <a:ext cx="356616" cy="35661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678924" y="301752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9715500" y="3474720"/>
            <a:ext cx="1828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IPFS (future integration)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548640" y="65288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PROOF-OF-WORK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0725912" y="65288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Flow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75488" y="1417320"/>
            <a:ext cx="3611880" cy="2331720"/>
          </a:xfrm>
          <a:prstGeom prst="roundRect">
            <a:avLst>
              <a:gd name="adj" fmla="val 2745"/>
            </a:avLst>
          </a:prstGeom>
          <a:solidFill>
            <a:srgbClr val="F5F6F8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81912"/>
            <a:ext cx="365760" cy="365760"/>
          </a:xfrm>
          <a:prstGeom prst="ellipse">
            <a:avLst/>
          </a:prstGeom>
          <a:solidFill>
            <a:srgbClr val="0F1F3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81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01568" y="1536192"/>
            <a:ext cx="457200" cy="457200"/>
          </a:xfrm>
          <a:prstGeom prst="ellipse">
            <a:avLst/>
          </a:prstGeom>
          <a:solidFill>
            <a:srgbClr val="E7ECF6"/>
          </a:solidFill>
          <a:ln w="12700">
            <a:solidFill>
              <a:srgbClr val="D9DEE4"/>
            </a:solidFill>
            <a:prstDash val="solid"/>
          </a:ln>
        </p:spPr>
      </p:sp>
      <p:pic>
        <p:nvPicPr>
          <p:cNvPr id="7" name="Image 0" descr="/home/claude/pow-deck/icons/user-pl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15868" y="1650492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15568" y="154533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creates identity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" y="2130552"/>
            <a:ext cx="3282696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4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2098548" y="2569464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DEE4"/>
            </a:solidFill>
            <a:prstDash val="solid"/>
          </a:ln>
        </p:spPr>
      </p:sp>
      <p:pic>
        <p:nvPicPr>
          <p:cNvPr id="11" name="Image 1" descr="/home/claude/pow-deck/icons/monit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9988" y="2660904"/>
            <a:ext cx="182880" cy="1828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0080" y="2990088"/>
            <a:ext cx="3282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4288536" y="1417320"/>
            <a:ext cx="3611880" cy="2331720"/>
          </a:xfrm>
          <a:prstGeom prst="roundRect">
            <a:avLst>
              <a:gd name="adj" fmla="val 2745"/>
            </a:avLst>
          </a:prstGeom>
          <a:solidFill>
            <a:srgbClr val="F5F6F8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453128" y="1581912"/>
            <a:ext cx="365760" cy="365760"/>
          </a:xfrm>
          <a:prstGeom prst="ellipse">
            <a:avLst/>
          </a:prstGeom>
          <a:solidFill>
            <a:srgbClr val="0F1F3D"/>
          </a:solidFill>
          <a:ln/>
        </p:spPr>
      </p:sp>
      <p:sp>
        <p:nvSpPr>
          <p:cNvPr id="15" name="Text 11"/>
          <p:cNvSpPr/>
          <p:nvPr/>
        </p:nvSpPr>
        <p:spPr>
          <a:xfrm>
            <a:off x="4453128" y="1581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7214616" y="1536192"/>
            <a:ext cx="457200" cy="457200"/>
          </a:xfrm>
          <a:prstGeom prst="ellipse">
            <a:avLst/>
          </a:prstGeom>
          <a:solidFill>
            <a:srgbClr val="E7ECF6"/>
          </a:solidFill>
          <a:ln w="12700">
            <a:solidFill>
              <a:srgbClr val="D9DEE4"/>
            </a:solidFill>
            <a:prstDash val="solid"/>
          </a:ln>
        </p:spPr>
      </p:sp>
      <p:pic>
        <p:nvPicPr>
          <p:cNvPr id="17" name="Image 2" descr="/home/claude/pow-deck/icons/file-tex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8916" y="1650492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928616" y="154533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submits contribution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453128" y="2130552"/>
            <a:ext cx="3282696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4"/>
            </a:solidFill>
            <a:prstDash val="dash"/>
          </a:ln>
        </p:spPr>
      </p:sp>
      <p:sp>
        <p:nvSpPr>
          <p:cNvPr id="20" name="Shape 15"/>
          <p:cNvSpPr/>
          <p:nvPr/>
        </p:nvSpPr>
        <p:spPr>
          <a:xfrm>
            <a:off x="5911596" y="2569464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DEE4"/>
            </a:solidFill>
            <a:prstDash val="solid"/>
          </a:ln>
        </p:spPr>
      </p:sp>
      <p:pic>
        <p:nvPicPr>
          <p:cNvPr id="21" name="Image 3" descr="/home/claude/pow-deck/icons/monito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3036" y="2660904"/>
            <a:ext cx="182880" cy="1828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453128" y="2990088"/>
            <a:ext cx="3282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8101584" y="1417320"/>
            <a:ext cx="3611880" cy="2331720"/>
          </a:xfrm>
          <a:prstGeom prst="roundRect">
            <a:avLst>
              <a:gd name="adj" fmla="val 2745"/>
            </a:avLst>
          </a:prstGeom>
          <a:solidFill>
            <a:srgbClr val="F5F6F8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8266176" y="1581912"/>
            <a:ext cx="365760" cy="365760"/>
          </a:xfrm>
          <a:prstGeom prst="ellipse">
            <a:avLst/>
          </a:prstGeom>
          <a:solidFill>
            <a:srgbClr val="0F1F3D"/>
          </a:solidFill>
          <a:ln/>
        </p:spPr>
      </p:sp>
      <p:sp>
        <p:nvSpPr>
          <p:cNvPr id="25" name="Text 19"/>
          <p:cNvSpPr/>
          <p:nvPr/>
        </p:nvSpPr>
        <p:spPr>
          <a:xfrm>
            <a:off x="8266176" y="1581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11027664" y="1536192"/>
            <a:ext cx="457200" cy="457200"/>
          </a:xfrm>
          <a:prstGeom prst="ellipse">
            <a:avLst/>
          </a:prstGeom>
          <a:solidFill>
            <a:srgbClr val="E7ECF6"/>
          </a:solidFill>
          <a:ln w="12700">
            <a:solidFill>
              <a:srgbClr val="D9DEE4"/>
            </a:solidFill>
            <a:prstDash val="solid"/>
          </a:ln>
        </p:spPr>
      </p:sp>
      <p:pic>
        <p:nvPicPr>
          <p:cNvPr id="27" name="Image 4" descr="/home/claude/pow-deck/icons/user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41964" y="1650492"/>
            <a:ext cx="228600" cy="2286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741664" y="154533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Validators verify submission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266176" y="2130552"/>
            <a:ext cx="3282696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4"/>
            </a:solidFill>
            <a:prstDash val="dash"/>
          </a:ln>
        </p:spPr>
      </p:sp>
      <p:sp>
        <p:nvSpPr>
          <p:cNvPr id="30" name="Shape 23"/>
          <p:cNvSpPr/>
          <p:nvPr/>
        </p:nvSpPr>
        <p:spPr>
          <a:xfrm>
            <a:off x="9724644" y="2569464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DEE4"/>
            </a:solidFill>
            <a:prstDash val="solid"/>
          </a:ln>
        </p:spPr>
      </p:sp>
      <p:pic>
        <p:nvPicPr>
          <p:cNvPr id="31" name="Image 5" descr="/home/claude/pow-deck/icons/monito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16084" y="2660904"/>
            <a:ext cx="182880" cy="18288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266176" y="2990088"/>
            <a:ext cx="3282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900" dirty="0"/>
          </a:p>
        </p:txBody>
      </p:sp>
      <p:sp>
        <p:nvSpPr>
          <p:cNvPr id="33" name="Shape 25"/>
          <p:cNvSpPr/>
          <p:nvPr/>
        </p:nvSpPr>
        <p:spPr>
          <a:xfrm>
            <a:off x="475488" y="4005072"/>
            <a:ext cx="3611880" cy="2331720"/>
          </a:xfrm>
          <a:prstGeom prst="roundRect">
            <a:avLst>
              <a:gd name="adj" fmla="val 2745"/>
            </a:avLst>
          </a:prstGeom>
          <a:solidFill>
            <a:srgbClr val="F5F6F8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640080" y="4169664"/>
            <a:ext cx="365760" cy="365760"/>
          </a:xfrm>
          <a:prstGeom prst="ellipse">
            <a:avLst/>
          </a:prstGeom>
          <a:solidFill>
            <a:srgbClr val="0F1F3D"/>
          </a:solidFill>
          <a:ln/>
        </p:spPr>
      </p:sp>
      <p:sp>
        <p:nvSpPr>
          <p:cNvPr id="35" name="Text 27"/>
          <p:cNvSpPr/>
          <p:nvPr/>
        </p:nvSpPr>
        <p:spPr>
          <a:xfrm>
            <a:off x="640080" y="4169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6" name="Shape 28"/>
          <p:cNvSpPr/>
          <p:nvPr/>
        </p:nvSpPr>
        <p:spPr>
          <a:xfrm>
            <a:off x="3401568" y="4123944"/>
            <a:ext cx="457200" cy="457200"/>
          </a:xfrm>
          <a:prstGeom prst="ellipse">
            <a:avLst/>
          </a:prstGeom>
          <a:solidFill>
            <a:srgbClr val="E7ECF6"/>
          </a:solidFill>
          <a:ln w="12700">
            <a:solidFill>
              <a:srgbClr val="D9DEE4"/>
            </a:solidFill>
            <a:prstDash val="solid"/>
          </a:ln>
        </p:spPr>
      </p:sp>
      <p:pic>
        <p:nvPicPr>
          <p:cNvPr id="37" name="Image 6" descr="/home/claude/pow-deck/icons/check-circl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15868" y="4238244"/>
            <a:ext cx="228600" cy="22860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1115568" y="413308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record generated</a:t>
            </a:r>
            <a:endParaRPr lang="en-US" sz="1200" dirty="0"/>
          </a:p>
        </p:txBody>
      </p:sp>
      <p:sp>
        <p:nvSpPr>
          <p:cNvPr id="39" name="Shape 30"/>
          <p:cNvSpPr/>
          <p:nvPr/>
        </p:nvSpPr>
        <p:spPr>
          <a:xfrm>
            <a:off x="640080" y="4718304"/>
            <a:ext cx="3282696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4"/>
            </a:solidFill>
            <a:prstDash val="dash"/>
          </a:ln>
        </p:spPr>
      </p:sp>
      <p:sp>
        <p:nvSpPr>
          <p:cNvPr id="40" name="Shape 31"/>
          <p:cNvSpPr/>
          <p:nvPr/>
        </p:nvSpPr>
        <p:spPr>
          <a:xfrm>
            <a:off x="2098548" y="5157216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DEE4"/>
            </a:solidFill>
            <a:prstDash val="solid"/>
          </a:ln>
        </p:spPr>
      </p:sp>
      <p:pic>
        <p:nvPicPr>
          <p:cNvPr id="41" name="Image 7" descr="/home/claude/pow-deck/icons/monito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89988" y="5248656"/>
            <a:ext cx="182880" cy="182880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640080" y="5577840"/>
            <a:ext cx="3282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900" dirty="0"/>
          </a:p>
        </p:txBody>
      </p:sp>
      <p:sp>
        <p:nvSpPr>
          <p:cNvPr id="43" name="Shape 33"/>
          <p:cNvSpPr/>
          <p:nvPr/>
        </p:nvSpPr>
        <p:spPr>
          <a:xfrm>
            <a:off x="4288536" y="4005072"/>
            <a:ext cx="3611880" cy="2331720"/>
          </a:xfrm>
          <a:prstGeom prst="roundRect">
            <a:avLst>
              <a:gd name="adj" fmla="val 2745"/>
            </a:avLst>
          </a:prstGeom>
          <a:solidFill>
            <a:srgbClr val="F5F6F8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44" name="Shape 34"/>
          <p:cNvSpPr/>
          <p:nvPr/>
        </p:nvSpPr>
        <p:spPr>
          <a:xfrm>
            <a:off x="4453128" y="4169664"/>
            <a:ext cx="365760" cy="365760"/>
          </a:xfrm>
          <a:prstGeom prst="ellipse">
            <a:avLst/>
          </a:prstGeom>
          <a:solidFill>
            <a:srgbClr val="0F1F3D"/>
          </a:solidFill>
          <a:ln/>
        </p:spPr>
      </p:sp>
      <p:sp>
        <p:nvSpPr>
          <p:cNvPr id="45" name="Text 35"/>
          <p:cNvSpPr/>
          <p:nvPr/>
        </p:nvSpPr>
        <p:spPr>
          <a:xfrm>
            <a:off x="4453128" y="4169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6" name="Shape 36"/>
          <p:cNvSpPr/>
          <p:nvPr/>
        </p:nvSpPr>
        <p:spPr>
          <a:xfrm>
            <a:off x="7214616" y="4123944"/>
            <a:ext cx="457200" cy="457200"/>
          </a:xfrm>
          <a:prstGeom prst="ellipse">
            <a:avLst/>
          </a:prstGeom>
          <a:solidFill>
            <a:srgbClr val="E7ECF6"/>
          </a:solidFill>
          <a:ln w="12700">
            <a:solidFill>
              <a:srgbClr val="D9DEE4"/>
            </a:solidFill>
            <a:prstDash val="solid"/>
          </a:ln>
        </p:spPr>
      </p:sp>
      <p:pic>
        <p:nvPicPr>
          <p:cNvPr id="47" name="Image 8" descr="/home/claude/pow-deck/icons/ey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28916" y="4238244"/>
            <a:ext cx="228600" cy="228600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4928616" y="413308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monitors suspicious activity</a:t>
            </a:r>
            <a:endParaRPr lang="en-US" sz="1200" dirty="0"/>
          </a:p>
        </p:txBody>
      </p:sp>
      <p:sp>
        <p:nvSpPr>
          <p:cNvPr id="49" name="Shape 38"/>
          <p:cNvSpPr/>
          <p:nvPr/>
        </p:nvSpPr>
        <p:spPr>
          <a:xfrm>
            <a:off x="4453128" y="4718304"/>
            <a:ext cx="3282696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4"/>
            </a:solidFill>
            <a:prstDash val="dash"/>
          </a:ln>
        </p:spPr>
      </p:sp>
      <p:sp>
        <p:nvSpPr>
          <p:cNvPr id="50" name="Shape 39"/>
          <p:cNvSpPr/>
          <p:nvPr/>
        </p:nvSpPr>
        <p:spPr>
          <a:xfrm>
            <a:off x="5911596" y="5157216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DEE4"/>
            </a:solidFill>
            <a:prstDash val="solid"/>
          </a:ln>
        </p:spPr>
      </p:sp>
      <p:pic>
        <p:nvPicPr>
          <p:cNvPr id="51" name="Image 9" descr="/home/claude/pow-deck/icons/monitor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03036" y="5248656"/>
            <a:ext cx="182880" cy="182880"/>
          </a:xfrm>
          <a:prstGeom prst="rect">
            <a:avLst/>
          </a:prstGeom>
        </p:spPr>
      </p:pic>
      <p:sp>
        <p:nvSpPr>
          <p:cNvPr id="52" name="Text 40"/>
          <p:cNvSpPr/>
          <p:nvPr/>
        </p:nvSpPr>
        <p:spPr>
          <a:xfrm>
            <a:off x="4453128" y="5577840"/>
            <a:ext cx="3282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900" dirty="0"/>
          </a:p>
        </p:txBody>
      </p:sp>
      <p:sp>
        <p:nvSpPr>
          <p:cNvPr id="53" name="Shape 41"/>
          <p:cNvSpPr/>
          <p:nvPr/>
        </p:nvSpPr>
        <p:spPr>
          <a:xfrm>
            <a:off x="8101584" y="4005072"/>
            <a:ext cx="3611880" cy="2331720"/>
          </a:xfrm>
          <a:prstGeom prst="roundRect">
            <a:avLst>
              <a:gd name="adj" fmla="val 2745"/>
            </a:avLst>
          </a:prstGeom>
          <a:solidFill>
            <a:srgbClr val="F5F6F8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54" name="Shape 42"/>
          <p:cNvSpPr/>
          <p:nvPr/>
        </p:nvSpPr>
        <p:spPr>
          <a:xfrm>
            <a:off x="8266176" y="4169664"/>
            <a:ext cx="365760" cy="365760"/>
          </a:xfrm>
          <a:prstGeom prst="ellipse">
            <a:avLst/>
          </a:prstGeom>
          <a:solidFill>
            <a:srgbClr val="0F1F3D"/>
          </a:solidFill>
          <a:ln/>
        </p:spPr>
      </p:sp>
      <p:sp>
        <p:nvSpPr>
          <p:cNvPr id="55" name="Text 43"/>
          <p:cNvSpPr/>
          <p:nvPr/>
        </p:nvSpPr>
        <p:spPr>
          <a:xfrm>
            <a:off x="8266176" y="4169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56" name="Shape 44"/>
          <p:cNvSpPr/>
          <p:nvPr/>
        </p:nvSpPr>
        <p:spPr>
          <a:xfrm>
            <a:off x="11027664" y="4123944"/>
            <a:ext cx="457200" cy="457200"/>
          </a:xfrm>
          <a:prstGeom prst="ellipse">
            <a:avLst/>
          </a:prstGeom>
          <a:solidFill>
            <a:srgbClr val="E7ECF6"/>
          </a:solidFill>
          <a:ln w="12700">
            <a:solidFill>
              <a:srgbClr val="D9DEE4"/>
            </a:solidFill>
            <a:prstDash val="solid"/>
          </a:ln>
        </p:spPr>
      </p:sp>
      <p:pic>
        <p:nvPicPr>
          <p:cNvPr id="57" name="Image 10" descr="/home/claude/pow-deck/icons/awar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141964" y="4238244"/>
            <a:ext cx="228600" cy="228600"/>
          </a:xfrm>
          <a:prstGeom prst="rect">
            <a:avLst/>
          </a:prstGeom>
        </p:spPr>
      </p:pic>
      <p:sp>
        <p:nvSpPr>
          <p:cNvPr id="58" name="Text 45"/>
          <p:cNvSpPr/>
          <p:nvPr/>
        </p:nvSpPr>
        <p:spPr>
          <a:xfrm>
            <a:off x="8741664" y="413308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Reputation increases</a:t>
            </a:r>
            <a:endParaRPr lang="en-US" sz="1200" dirty="0"/>
          </a:p>
        </p:txBody>
      </p:sp>
      <p:sp>
        <p:nvSpPr>
          <p:cNvPr id="59" name="Shape 46"/>
          <p:cNvSpPr/>
          <p:nvPr/>
        </p:nvSpPr>
        <p:spPr>
          <a:xfrm>
            <a:off x="8266176" y="4718304"/>
            <a:ext cx="3282696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4"/>
            </a:solidFill>
            <a:prstDash val="dash"/>
          </a:ln>
        </p:spPr>
      </p:sp>
      <p:sp>
        <p:nvSpPr>
          <p:cNvPr id="60" name="Shape 47"/>
          <p:cNvSpPr/>
          <p:nvPr/>
        </p:nvSpPr>
        <p:spPr>
          <a:xfrm>
            <a:off x="9724644" y="5157216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DEE4"/>
            </a:solidFill>
            <a:prstDash val="solid"/>
          </a:ln>
        </p:spPr>
      </p:sp>
      <p:pic>
        <p:nvPicPr>
          <p:cNvPr id="61" name="Image 11" descr="/home/claude/pow-deck/icons/monitor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816084" y="5248656"/>
            <a:ext cx="182880" cy="182880"/>
          </a:xfrm>
          <a:prstGeom prst="rect">
            <a:avLst/>
          </a:prstGeom>
        </p:spPr>
      </p:pic>
      <p:sp>
        <p:nvSpPr>
          <p:cNvPr id="62" name="Text 48"/>
          <p:cNvSpPr/>
          <p:nvPr/>
        </p:nvSpPr>
        <p:spPr>
          <a:xfrm>
            <a:off x="8266176" y="5577840"/>
            <a:ext cx="3282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900" dirty="0"/>
          </a:p>
        </p:txBody>
      </p:sp>
      <p:sp>
        <p:nvSpPr>
          <p:cNvPr id="63" name="Text 49"/>
          <p:cNvSpPr/>
          <p:nvPr/>
        </p:nvSpPr>
        <p:spPr>
          <a:xfrm>
            <a:off x="548640" y="65288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PROOF-OF-WORK</a:t>
            </a:r>
            <a:endParaRPr lang="en-US" sz="900" dirty="0"/>
          </a:p>
        </p:txBody>
      </p:sp>
      <p:sp>
        <p:nvSpPr>
          <p:cNvPr id="64" name="Text 50"/>
          <p:cNvSpPr/>
          <p:nvPr/>
        </p:nvSpPr>
        <p:spPr>
          <a:xfrm>
            <a:off x="10725912" y="65288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Applications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93776" y="1508760"/>
            <a:ext cx="3520440" cy="4206240"/>
          </a:xfrm>
          <a:prstGeom prst="roundRect">
            <a:avLst>
              <a:gd name="adj" fmla="val 1818"/>
            </a:avLst>
          </a:prstGeom>
          <a:solidFill>
            <a:srgbClr val="F5F6F8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" y="1773936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DEE4"/>
            </a:solidFill>
            <a:prstDash val="solid"/>
          </a:ln>
        </p:spPr>
      </p:sp>
      <p:pic>
        <p:nvPicPr>
          <p:cNvPr id="5" name="Image 0" descr="/home/claude/pow-deck/icons/us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193852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45336" y="180136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13816" y="3008376"/>
            <a:ext cx="91440" cy="9144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8" name="Text 5"/>
          <p:cNvSpPr/>
          <p:nvPr/>
        </p:nvSpPr>
        <p:spPr>
          <a:xfrm>
            <a:off x="1069848" y="2871216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7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professional identity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13816" y="3575304"/>
            <a:ext cx="91440" cy="9144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10" name="Text 7"/>
          <p:cNvSpPr/>
          <p:nvPr/>
        </p:nvSpPr>
        <p:spPr>
          <a:xfrm>
            <a:off x="1069848" y="3438144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7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portable reputation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34256" y="1508760"/>
            <a:ext cx="3520440" cy="4206240"/>
          </a:xfrm>
          <a:prstGeom prst="roundRect">
            <a:avLst>
              <a:gd name="adj" fmla="val 1818"/>
            </a:avLst>
          </a:prstGeom>
          <a:solidFill>
            <a:srgbClr val="E7ECF6"/>
          </a:solidFill>
          <a:ln w="12700">
            <a:solidFill>
              <a:srgbClr val="C3D0E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99432" y="1773936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DEE4"/>
            </a:solidFill>
            <a:prstDash val="solid"/>
          </a:ln>
        </p:spPr>
      </p:sp>
      <p:pic>
        <p:nvPicPr>
          <p:cNvPr id="13" name="Image 1" descr="/home/claude/pow-deck/icons/briefc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024" y="1938528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85816" y="180136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4654296" y="3008376"/>
            <a:ext cx="91440" cy="9144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16" name="Text 12"/>
          <p:cNvSpPr/>
          <p:nvPr/>
        </p:nvSpPr>
        <p:spPr>
          <a:xfrm>
            <a:off x="4910328" y="2871216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7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workforce authenticity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4654296" y="3575304"/>
            <a:ext cx="91440" cy="9144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18" name="Text 14"/>
          <p:cNvSpPr/>
          <p:nvPr/>
        </p:nvSpPr>
        <p:spPr>
          <a:xfrm>
            <a:off x="4910328" y="3438144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7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accountability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8174736" y="1508760"/>
            <a:ext cx="3520440" cy="4206240"/>
          </a:xfrm>
          <a:prstGeom prst="roundRect">
            <a:avLst>
              <a:gd name="adj" fmla="val 1818"/>
            </a:avLst>
          </a:prstGeom>
          <a:solidFill>
            <a:srgbClr val="F5F6F8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439912" y="1773936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DEE4"/>
            </a:solidFill>
            <a:prstDash val="solid"/>
          </a:ln>
        </p:spPr>
      </p:sp>
      <p:pic>
        <p:nvPicPr>
          <p:cNvPr id="21" name="Image 2" descr="/home/claude/pow-deck/icons/glob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4504" y="1938528"/>
            <a:ext cx="329184" cy="32918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226296" y="180136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Industries</a:t>
            </a:r>
            <a:endParaRPr lang="en-US" sz="1600" dirty="0"/>
          </a:p>
        </p:txBody>
      </p:sp>
      <p:sp>
        <p:nvSpPr>
          <p:cNvPr id="23" name="Shape 18"/>
          <p:cNvSpPr/>
          <p:nvPr/>
        </p:nvSpPr>
        <p:spPr>
          <a:xfrm>
            <a:off x="8494776" y="3008376"/>
            <a:ext cx="91440" cy="9144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24" name="Text 19"/>
          <p:cNvSpPr/>
          <p:nvPr/>
        </p:nvSpPr>
        <p:spPr>
          <a:xfrm>
            <a:off x="8750808" y="2871216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7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supply chains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8494776" y="3575304"/>
            <a:ext cx="91440" cy="9144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26" name="Text 21"/>
          <p:cNvSpPr/>
          <p:nvPr/>
        </p:nvSpPr>
        <p:spPr>
          <a:xfrm>
            <a:off x="8750808" y="3438144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7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Gig economy</a:t>
            </a:r>
            <a:endParaRPr lang="en-US" sz="1250" dirty="0"/>
          </a:p>
        </p:txBody>
      </p:sp>
      <p:sp>
        <p:nvSpPr>
          <p:cNvPr id="27" name="Shape 22"/>
          <p:cNvSpPr/>
          <p:nvPr/>
        </p:nvSpPr>
        <p:spPr>
          <a:xfrm>
            <a:off x="8494776" y="4142232"/>
            <a:ext cx="91440" cy="9144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28" name="Text 23"/>
          <p:cNvSpPr/>
          <p:nvPr/>
        </p:nvSpPr>
        <p:spPr>
          <a:xfrm>
            <a:off x="8750808" y="4005072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7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workforce platforms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548640" y="65288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PROOF-OF-WORK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10725912" y="65288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Improvements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97280" y="3703320"/>
            <a:ext cx="9994392" cy="0"/>
          </a:xfrm>
          <a:prstGeom prst="line">
            <a:avLst/>
          </a:prstGeom>
          <a:noFill/>
          <a:ln w="25400">
            <a:solidFill>
              <a:srgbClr val="D9DEE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3816" y="3419856"/>
            <a:ext cx="566928" cy="566928"/>
          </a:xfrm>
          <a:prstGeom prst="ellipse">
            <a:avLst/>
          </a:prstGeom>
          <a:solidFill>
            <a:srgbClr val="E7ECF6"/>
          </a:solidFill>
          <a:ln w="12700">
            <a:solidFill>
              <a:srgbClr val="D9DEE4"/>
            </a:solidFill>
            <a:prstDash val="solid"/>
          </a:ln>
        </p:spPr>
      </p:sp>
      <p:pic>
        <p:nvPicPr>
          <p:cNvPr id="5" name="Image 0" descr="/home/claude/pow-deck/icons/l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" y="3561588"/>
            <a:ext cx="283464" cy="2834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56132" y="3662172"/>
            <a:ext cx="82296" cy="82296"/>
          </a:xfrm>
          <a:prstGeom prst="ellipse">
            <a:avLst/>
          </a:prstGeom>
          <a:solidFill>
            <a:srgbClr val="0F1F3D"/>
          </a:solidFill>
          <a:ln/>
        </p:spPr>
      </p:sp>
      <p:sp>
        <p:nvSpPr>
          <p:cNvPr id="7" name="Shape 4"/>
          <p:cNvSpPr/>
          <p:nvPr/>
        </p:nvSpPr>
        <p:spPr>
          <a:xfrm>
            <a:off x="1097280" y="3419856"/>
            <a:ext cx="0" cy="-320040"/>
          </a:xfrm>
          <a:prstGeom prst="line">
            <a:avLst/>
          </a:prstGeom>
          <a:noFill/>
          <a:ln w="12700">
            <a:solidFill>
              <a:srgbClr val="1B3A6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97280" y="2926080"/>
            <a:ext cx="0" cy="502920"/>
          </a:xfrm>
          <a:prstGeom prst="line">
            <a:avLst/>
          </a:prstGeom>
          <a:noFill/>
          <a:ln w="12700">
            <a:solidFill>
              <a:srgbClr val="D9DEE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4300" y="228600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real blockchain network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12414" y="3419856"/>
            <a:ext cx="566928" cy="566928"/>
          </a:xfrm>
          <a:prstGeom prst="ellipse">
            <a:avLst/>
          </a:prstGeom>
          <a:solidFill>
            <a:srgbClr val="E7ECF6"/>
          </a:solidFill>
          <a:ln w="12700">
            <a:solidFill>
              <a:srgbClr val="D9DEE4"/>
            </a:solidFill>
            <a:prstDash val="solid"/>
          </a:ln>
        </p:spPr>
      </p:sp>
      <p:pic>
        <p:nvPicPr>
          <p:cNvPr id="11" name="Image 1" descr="/home/claude/pow-deck/icons/smartpho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4146" y="3561588"/>
            <a:ext cx="283464" cy="28346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554730" y="3662172"/>
            <a:ext cx="82296" cy="82296"/>
          </a:xfrm>
          <a:prstGeom prst="ellipse">
            <a:avLst/>
          </a:prstGeom>
          <a:solidFill>
            <a:srgbClr val="0F1F3D"/>
          </a:solidFill>
          <a:ln/>
        </p:spPr>
      </p:sp>
      <p:sp>
        <p:nvSpPr>
          <p:cNvPr id="13" name="Shape 9"/>
          <p:cNvSpPr/>
          <p:nvPr/>
        </p:nvSpPr>
        <p:spPr>
          <a:xfrm>
            <a:off x="3595878" y="3986784"/>
            <a:ext cx="0" cy="502920"/>
          </a:xfrm>
          <a:prstGeom prst="line">
            <a:avLst/>
          </a:prstGeom>
          <a:noFill/>
          <a:ln w="12700">
            <a:solidFill>
              <a:srgbClr val="D9DEE4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2612898" y="452628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worker application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811012" y="3419856"/>
            <a:ext cx="566928" cy="566928"/>
          </a:xfrm>
          <a:prstGeom prst="ellipse">
            <a:avLst/>
          </a:prstGeom>
          <a:solidFill>
            <a:srgbClr val="E7ECF6"/>
          </a:solidFill>
          <a:ln w="12700">
            <a:solidFill>
              <a:srgbClr val="D9DEE4"/>
            </a:solidFill>
            <a:prstDash val="solid"/>
          </a:ln>
        </p:spPr>
      </p:sp>
      <p:pic>
        <p:nvPicPr>
          <p:cNvPr id="16" name="Image 2" descr="/home/claude/pow-deck/icons/bar-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2744" y="3561588"/>
            <a:ext cx="283464" cy="283464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6053328" y="3662172"/>
            <a:ext cx="82296" cy="82296"/>
          </a:xfrm>
          <a:prstGeom prst="ellipse">
            <a:avLst/>
          </a:prstGeom>
          <a:solidFill>
            <a:srgbClr val="0F1F3D"/>
          </a:solidFill>
          <a:ln/>
        </p:spPr>
      </p:sp>
      <p:sp>
        <p:nvSpPr>
          <p:cNvPr id="18" name="Shape 13"/>
          <p:cNvSpPr/>
          <p:nvPr/>
        </p:nvSpPr>
        <p:spPr>
          <a:xfrm>
            <a:off x="6094476" y="3419856"/>
            <a:ext cx="0" cy="-320040"/>
          </a:xfrm>
          <a:prstGeom prst="line">
            <a:avLst/>
          </a:prstGeom>
          <a:noFill/>
          <a:ln w="12700">
            <a:solidFill>
              <a:srgbClr val="1B3A66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094476" y="2926080"/>
            <a:ext cx="0" cy="502920"/>
          </a:xfrm>
          <a:prstGeom prst="line">
            <a:avLst/>
          </a:prstGeom>
          <a:noFill/>
          <a:ln w="12700">
            <a:solidFill>
              <a:srgbClr val="D9DEE4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5111496" y="228600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reputation scoring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8309610" y="3419856"/>
            <a:ext cx="566928" cy="566928"/>
          </a:xfrm>
          <a:prstGeom prst="ellipse">
            <a:avLst/>
          </a:prstGeom>
          <a:solidFill>
            <a:srgbClr val="E7ECF6"/>
          </a:solidFill>
          <a:ln w="12700">
            <a:solidFill>
              <a:srgbClr val="D9DEE4"/>
            </a:solidFill>
            <a:prstDash val="solid"/>
          </a:ln>
        </p:spPr>
      </p:sp>
      <p:pic>
        <p:nvPicPr>
          <p:cNvPr id="22" name="Image 3" descr="/home/claude/pow-deck/icons/monito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1342" y="3561588"/>
            <a:ext cx="283464" cy="283464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8551926" y="3662172"/>
            <a:ext cx="82296" cy="82296"/>
          </a:xfrm>
          <a:prstGeom prst="ellipse">
            <a:avLst/>
          </a:prstGeom>
          <a:solidFill>
            <a:srgbClr val="0F1F3D"/>
          </a:solidFill>
          <a:ln/>
        </p:spPr>
      </p:sp>
      <p:sp>
        <p:nvSpPr>
          <p:cNvPr id="24" name="Shape 18"/>
          <p:cNvSpPr/>
          <p:nvPr/>
        </p:nvSpPr>
        <p:spPr>
          <a:xfrm>
            <a:off x="8593074" y="3986784"/>
            <a:ext cx="0" cy="502920"/>
          </a:xfrm>
          <a:prstGeom prst="line">
            <a:avLst/>
          </a:prstGeom>
          <a:noFill/>
          <a:ln w="12700">
            <a:solidFill>
              <a:srgbClr val="D9DEE4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7610094" y="452628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supply chain dashboard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10808208" y="3419856"/>
            <a:ext cx="566928" cy="566928"/>
          </a:xfrm>
          <a:prstGeom prst="ellipse">
            <a:avLst/>
          </a:prstGeom>
          <a:solidFill>
            <a:srgbClr val="E7ECF6"/>
          </a:solidFill>
          <a:ln w="12700">
            <a:solidFill>
              <a:srgbClr val="D9DEE4"/>
            </a:solidFill>
            <a:prstDash val="solid"/>
          </a:ln>
        </p:spPr>
      </p:sp>
      <p:pic>
        <p:nvPicPr>
          <p:cNvPr id="27" name="Image 4" descr="/home/claude/pow-deck/icons/ke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49940" y="3561588"/>
            <a:ext cx="283464" cy="283464"/>
          </a:xfrm>
          <a:prstGeom prst="rect">
            <a:avLst/>
          </a:prstGeom>
        </p:spPr>
      </p:pic>
      <p:sp>
        <p:nvSpPr>
          <p:cNvPr id="28" name="Shape 21"/>
          <p:cNvSpPr/>
          <p:nvPr/>
        </p:nvSpPr>
        <p:spPr>
          <a:xfrm>
            <a:off x="11050524" y="3662172"/>
            <a:ext cx="82296" cy="82296"/>
          </a:xfrm>
          <a:prstGeom prst="ellipse">
            <a:avLst/>
          </a:prstGeom>
          <a:solidFill>
            <a:srgbClr val="0F1F3D"/>
          </a:solidFill>
          <a:ln/>
        </p:spPr>
      </p:sp>
      <p:sp>
        <p:nvSpPr>
          <p:cNvPr id="29" name="Shape 22"/>
          <p:cNvSpPr/>
          <p:nvPr/>
        </p:nvSpPr>
        <p:spPr>
          <a:xfrm>
            <a:off x="11091672" y="3419856"/>
            <a:ext cx="0" cy="-320040"/>
          </a:xfrm>
          <a:prstGeom prst="line">
            <a:avLst/>
          </a:prstGeom>
          <a:noFill/>
          <a:ln w="12700">
            <a:solidFill>
              <a:srgbClr val="1B3A66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11091672" y="2926080"/>
            <a:ext cx="0" cy="502920"/>
          </a:xfrm>
          <a:prstGeom prst="line">
            <a:avLst/>
          </a:prstGeom>
          <a:noFill/>
          <a:ln w="12700">
            <a:solidFill>
              <a:srgbClr val="D9DEE4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10108692" y="228600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Zero-knowledge proof authentication</a:t>
            </a:r>
            <a:endParaRPr lang="en-US" sz="1150" dirty="0"/>
          </a:p>
        </p:txBody>
      </p:sp>
      <p:sp>
        <p:nvSpPr>
          <p:cNvPr id="32" name="Text 25"/>
          <p:cNvSpPr/>
          <p:nvPr/>
        </p:nvSpPr>
        <p:spPr>
          <a:xfrm>
            <a:off x="548640" y="65288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PROOF-OF-WORK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10725912" y="65288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502920" y="320040"/>
            <a:ext cx="731520" cy="137160"/>
          </a:xfrm>
          <a:prstGeom prst="line">
            <a:avLst/>
          </a:prstGeom>
          <a:noFill/>
          <a:ln w="9525">
            <a:solidFill>
              <a:srgbClr val="2B4A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457200"/>
            <a:ext cx="457200" cy="502920"/>
          </a:xfrm>
          <a:prstGeom prst="line">
            <a:avLst/>
          </a:prstGeom>
          <a:noFill/>
          <a:ln w="9525">
            <a:solidFill>
              <a:srgbClr val="2B4A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960120" y="320040"/>
            <a:ext cx="274320" cy="640080"/>
          </a:xfrm>
          <a:prstGeom prst="line">
            <a:avLst/>
          </a:prstGeom>
          <a:noFill/>
          <a:ln w="9525">
            <a:solidFill>
              <a:srgbClr val="2B4A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960120" y="777240"/>
            <a:ext cx="777240" cy="182880"/>
          </a:xfrm>
          <a:prstGeom prst="line">
            <a:avLst/>
          </a:prstGeom>
          <a:noFill/>
          <a:ln w="9525">
            <a:solidFill>
              <a:srgbClr val="2B4A7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365760" y="960120"/>
            <a:ext cx="594360" cy="274320"/>
          </a:xfrm>
          <a:prstGeom prst="line">
            <a:avLst/>
          </a:prstGeom>
          <a:noFill/>
          <a:ln w="9525">
            <a:solidFill>
              <a:srgbClr val="2B4A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37360" y="777240"/>
            <a:ext cx="411480" cy="502920"/>
          </a:xfrm>
          <a:prstGeom prst="line">
            <a:avLst/>
          </a:prstGeom>
          <a:noFill/>
          <a:ln w="9525">
            <a:solidFill>
              <a:srgbClr val="2B4A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234440"/>
            <a:ext cx="320040" cy="502920"/>
          </a:xfrm>
          <a:prstGeom prst="line">
            <a:avLst/>
          </a:prstGeom>
          <a:noFill/>
          <a:ln w="9525">
            <a:solidFill>
              <a:srgbClr val="2B4A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685800" y="960120"/>
            <a:ext cx="274320" cy="777240"/>
          </a:xfrm>
          <a:prstGeom prst="line">
            <a:avLst/>
          </a:prstGeom>
          <a:noFill/>
          <a:ln w="9525">
            <a:solidFill>
              <a:srgbClr val="2B4A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" y="425196"/>
            <a:ext cx="64008" cy="64008"/>
          </a:xfrm>
          <a:prstGeom prst="ellipse">
            <a:avLst/>
          </a:prstGeom>
          <a:solidFill>
            <a:srgbClr val="3E5D8F"/>
          </a:solidFill>
          <a:ln/>
        </p:spPr>
      </p:sp>
      <p:sp>
        <p:nvSpPr>
          <p:cNvPr id="11" name="Shape 9"/>
          <p:cNvSpPr/>
          <p:nvPr/>
        </p:nvSpPr>
        <p:spPr>
          <a:xfrm>
            <a:off x="1202436" y="288036"/>
            <a:ext cx="64008" cy="64008"/>
          </a:xfrm>
          <a:prstGeom prst="ellipse">
            <a:avLst/>
          </a:prstGeom>
          <a:solidFill>
            <a:srgbClr val="3E5D8F"/>
          </a:solidFill>
          <a:ln/>
        </p:spPr>
      </p:sp>
      <p:sp>
        <p:nvSpPr>
          <p:cNvPr id="12" name="Shape 10"/>
          <p:cNvSpPr/>
          <p:nvPr/>
        </p:nvSpPr>
        <p:spPr>
          <a:xfrm>
            <a:off x="928116" y="928116"/>
            <a:ext cx="64008" cy="64008"/>
          </a:xfrm>
          <a:prstGeom prst="ellipse">
            <a:avLst/>
          </a:prstGeom>
          <a:solidFill>
            <a:srgbClr val="3E5D8F"/>
          </a:solidFill>
          <a:ln/>
        </p:spPr>
      </p:sp>
      <p:sp>
        <p:nvSpPr>
          <p:cNvPr id="13" name="Shape 11"/>
          <p:cNvSpPr/>
          <p:nvPr/>
        </p:nvSpPr>
        <p:spPr>
          <a:xfrm>
            <a:off x="333756" y="1202436"/>
            <a:ext cx="64008" cy="64008"/>
          </a:xfrm>
          <a:prstGeom prst="ellipse">
            <a:avLst/>
          </a:prstGeom>
          <a:solidFill>
            <a:srgbClr val="3E5D8F"/>
          </a:solidFill>
          <a:ln/>
        </p:spPr>
      </p:sp>
      <p:sp>
        <p:nvSpPr>
          <p:cNvPr id="14" name="Shape 12"/>
          <p:cNvSpPr/>
          <p:nvPr/>
        </p:nvSpPr>
        <p:spPr>
          <a:xfrm>
            <a:off x="1705356" y="745236"/>
            <a:ext cx="64008" cy="64008"/>
          </a:xfrm>
          <a:prstGeom prst="ellipse">
            <a:avLst/>
          </a:prstGeom>
          <a:solidFill>
            <a:srgbClr val="3E5D8F"/>
          </a:solidFill>
          <a:ln/>
        </p:spPr>
      </p:sp>
      <p:sp>
        <p:nvSpPr>
          <p:cNvPr id="15" name="Shape 13"/>
          <p:cNvSpPr/>
          <p:nvPr/>
        </p:nvSpPr>
        <p:spPr>
          <a:xfrm>
            <a:off x="2116836" y="1248156"/>
            <a:ext cx="64008" cy="64008"/>
          </a:xfrm>
          <a:prstGeom prst="ellipse">
            <a:avLst/>
          </a:prstGeom>
          <a:solidFill>
            <a:srgbClr val="3E5D8F"/>
          </a:solidFill>
          <a:ln/>
        </p:spPr>
      </p:sp>
      <p:sp>
        <p:nvSpPr>
          <p:cNvPr id="16" name="Shape 14"/>
          <p:cNvSpPr/>
          <p:nvPr/>
        </p:nvSpPr>
        <p:spPr>
          <a:xfrm>
            <a:off x="653796" y="1705356"/>
            <a:ext cx="64008" cy="64008"/>
          </a:xfrm>
          <a:prstGeom prst="ellipse">
            <a:avLst/>
          </a:prstGeom>
          <a:solidFill>
            <a:srgbClr val="3E5D8F"/>
          </a:solidFill>
          <a:ln/>
        </p:spPr>
      </p:sp>
      <p:sp>
        <p:nvSpPr>
          <p:cNvPr id="17" name="Shape 15"/>
          <p:cNvSpPr/>
          <p:nvPr/>
        </p:nvSpPr>
        <p:spPr>
          <a:xfrm flipV="1">
            <a:off x="10954512" y="6400800"/>
            <a:ext cx="731520" cy="137160"/>
          </a:xfrm>
          <a:prstGeom prst="line">
            <a:avLst/>
          </a:prstGeom>
          <a:noFill/>
          <a:ln w="9525">
            <a:solidFill>
              <a:srgbClr val="2B4A7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228832" y="5897880"/>
            <a:ext cx="457200" cy="502920"/>
          </a:xfrm>
          <a:prstGeom prst="line">
            <a:avLst/>
          </a:prstGeom>
          <a:noFill/>
          <a:ln w="9525">
            <a:solidFill>
              <a:srgbClr val="2B4A7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10954512" y="5897880"/>
            <a:ext cx="274320" cy="640080"/>
          </a:xfrm>
          <a:prstGeom prst="line">
            <a:avLst/>
          </a:prstGeom>
          <a:noFill/>
          <a:ln w="9525">
            <a:solidFill>
              <a:srgbClr val="2B4A7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10451592" y="5897880"/>
            <a:ext cx="777240" cy="182880"/>
          </a:xfrm>
          <a:prstGeom prst="line">
            <a:avLst/>
          </a:prstGeom>
          <a:noFill/>
          <a:ln w="9525">
            <a:solidFill>
              <a:srgbClr val="2B4A7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11228832" y="5623560"/>
            <a:ext cx="594360" cy="274320"/>
          </a:xfrm>
          <a:prstGeom prst="line">
            <a:avLst/>
          </a:prstGeom>
          <a:noFill/>
          <a:ln w="9525">
            <a:solidFill>
              <a:srgbClr val="2B4A7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040112" y="5577840"/>
            <a:ext cx="411480" cy="502920"/>
          </a:xfrm>
          <a:prstGeom prst="line">
            <a:avLst/>
          </a:prstGeom>
          <a:noFill/>
          <a:ln w="9525">
            <a:solidFill>
              <a:srgbClr val="2B4A7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503152" y="5120640"/>
            <a:ext cx="320040" cy="502920"/>
          </a:xfrm>
          <a:prstGeom prst="line">
            <a:avLst/>
          </a:prstGeom>
          <a:noFill/>
          <a:ln w="9525">
            <a:solidFill>
              <a:srgbClr val="2B4A7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11228832" y="5120640"/>
            <a:ext cx="274320" cy="777240"/>
          </a:xfrm>
          <a:prstGeom prst="line">
            <a:avLst/>
          </a:prstGeom>
          <a:noFill/>
          <a:ln w="9525">
            <a:solidFill>
              <a:srgbClr val="2B4A7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654028" y="6368796"/>
            <a:ext cx="64008" cy="64008"/>
          </a:xfrm>
          <a:prstGeom prst="ellipse">
            <a:avLst/>
          </a:prstGeom>
          <a:solidFill>
            <a:srgbClr val="3E5D8F"/>
          </a:solidFill>
          <a:ln/>
        </p:spPr>
      </p:sp>
      <p:sp>
        <p:nvSpPr>
          <p:cNvPr id="26" name="Shape 24"/>
          <p:cNvSpPr/>
          <p:nvPr/>
        </p:nvSpPr>
        <p:spPr>
          <a:xfrm>
            <a:off x="10922508" y="6505956"/>
            <a:ext cx="64008" cy="64008"/>
          </a:xfrm>
          <a:prstGeom prst="ellipse">
            <a:avLst/>
          </a:prstGeom>
          <a:solidFill>
            <a:srgbClr val="3E5D8F"/>
          </a:solidFill>
          <a:ln/>
        </p:spPr>
      </p:sp>
      <p:sp>
        <p:nvSpPr>
          <p:cNvPr id="27" name="Shape 25"/>
          <p:cNvSpPr/>
          <p:nvPr/>
        </p:nvSpPr>
        <p:spPr>
          <a:xfrm>
            <a:off x="11196828" y="5865876"/>
            <a:ext cx="64008" cy="64008"/>
          </a:xfrm>
          <a:prstGeom prst="ellipse">
            <a:avLst/>
          </a:prstGeom>
          <a:solidFill>
            <a:srgbClr val="3E5D8F"/>
          </a:solidFill>
          <a:ln/>
        </p:spPr>
      </p:sp>
      <p:sp>
        <p:nvSpPr>
          <p:cNvPr id="28" name="Shape 26"/>
          <p:cNvSpPr/>
          <p:nvPr/>
        </p:nvSpPr>
        <p:spPr>
          <a:xfrm>
            <a:off x="11791188" y="5591556"/>
            <a:ext cx="64008" cy="64008"/>
          </a:xfrm>
          <a:prstGeom prst="ellipse">
            <a:avLst/>
          </a:prstGeom>
          <a:solidFill>
            <a:srgbClr val="3E5D8F"/>
          </a:solidFill>
          <a:ln/>
        </p:spPr>
      </p:sp>
      <p:sp>
        <p:nvSpPr>
          <p:cNvPr id="29" name="Shape 27"/>
          <p:cNvSpPr/>
          <p:nvPr/>
        </p:nvSpPr>
        <p:spPr>
          <a:xfrm>
            <a:off x="10419588" y="6048756"/>
            <a:ext cx="64008" cy="64008"/>
          </a:xfrm>
          <a:prstGeom prst="ellipse">
            <a:avLst/>
          </a:prstGeom>
          <a:solidFill>
            <a:srgbClr val="3E5D8F"/>
          </a:solidFill>
          <a:ln/>
        </p:spPr>
      </p:sp>
      <p:sp>
        <p:nvSpPr>
          <p:cNvPr id="30" name="Shape 28"/>
          <p:cNvSpPr/>
          <p:nvPr/>
        </p:nvSpPr>
        <p:spPr>
          <a:xfrm>
            <a:off x="10008108" y="5545836"/>
            <a:ext cx="64008" cy="64008"/>
          </a:xfrm>
          <a:prstGeom prst="ellipse">
            <a:avLst/>
          </a:prstGeom>
          <a:solidFill>
            <a:srgbClr val="3E5D8F"/>
          </a:solidFill>
          <a:ln/>
        </p:spPr>
      </p:sp>
      <p:sp>
        <p:nvSpPr>
          <p:cNvPr id="31" name="Shape 29"/>
          <p:cNvSpPr/>
          <p:nvPr/>
        </p:nvSpPr>
        <p:spPr>
          <a:xfrm>
            <a:off x="11471148" y="5088636"/>
            <a:ext cx="64008" cy="64008"/>
          </a:xfrm>
          <a:prstGeom prst="ellipse">
            <a:avLst/>
          </a:prstGeom>
          <a:solidFill>
            <a:srgbClr val="3E5D8F"/>
          </a:solidFill>
          <a:ln/>
        </p:spPr>
      </p:sp>
      <p:sp>
        <p:nvSpPr>
          <p:cNvPr id="32" name="Text 30"/>
          <p:cNvSpPr/>
          <p:nvPr/>
        </p:nvSpPr>
        <p:spPr>
          <a:xfrm>
            <a:off x="914400" y="187452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Trust For The Future Of Work</a:t>
            </a:r>
            <a:endParaRPr lang="en-US" sz="3200" dirty="0"/>
          </a:p>
        </p:txBody>
      </p:sp>
      <p:sp>
        <p:nvSpPr>
          <p:cNvPr id="33" name="Text 31"/>
          <p:cNvSpPr/>
          <p:nvPr/>
        </p:nvSpPr>
        <p:spPr>
          <a:xfrm>
            <a:off x="1737360" y="2788920"/>
            <a:ext cx="8714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“Proof-Of-Work transforms labor history from a centralized record into a worker-owned digital asset.”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5545836" y="3977640"/>
            <a:ext cx="1097280" cy="0"/>
          </a:xfrm>
          <a:prstGeom prst="line">
            <a:avLst/>
          </a:prstGeom>
          <a:noFill/>
          <a:ln w="12700">
            <a:solidFill>
              <a:srgbClr val="3E5D8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0" y="4206240"/>
            <a:ext cx="12188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0" y="475488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[Your Team Name]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0" y="5084064"/>
            <a:ext cx="12188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F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[Member One] · [Member Two] · [Member Three] · [Member Four]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2026-07-19T11:00:05Z</dcterms:created>
  <dcterms:modified xsi:type="dcterms:W3CDTF">2026-07-19T11:00:05Z</dcterms:modified>
</cp:coreProperties>
</file>