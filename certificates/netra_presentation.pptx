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27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194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8288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Device for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NETRA?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06240" y="1319349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is a small USB device that you plug into a personal systems.</a:t>
            </a:r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between your device and the internet and watches all the network traffic going in and out.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suspicious — like a hacking attempt — it blocks it and shows you an alert.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06240" y="3886200"/>
            <a:ext cx="20116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0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Plug-and-Play. No setup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happens when you connect to free Wi-Fi at a café or airport...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651760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 Public Wi-Fi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connect to 'Free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without thinking twice.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5176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002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5848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watching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55848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on the same network can see your unencrypted data.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80760" y="1463040"/>
            <a:ext cx="265176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002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0488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— a fake hotspot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90488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hotspot itself is created by the attacker to trap users.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Public Wi-Fi is Risky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connect to public Wi-Fi, your device trusts the network.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network may not be trustworthy.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907177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(MITM) attack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attacker reads your messages and passwords</a:t>
            </a:r>
          </a:p>
          <a:p>
            <a:pPr algn="l">
              <a:spcAft>
                <a:spcPts val="500"/>
              </a:spcAft>
              <a:buSzPct val="100000"/>
            </a:pP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hotspot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 connect to attacker's device thinking it's the real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500"/>
              </a:spcAft>
              <a:buSzPct val="100000"/>
            </a:pP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all your unencrypted traffic is readable by others</a:t>
            </a:r>
          </a:p>
          <a:p>
            <a:pPr algn="l">
              <a:spcAft>
                <a:spcPts val="500"/>
              </a:spcAft>
              <a:buSzPct val="100000"/>
            </a:pP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attacker steals your login session cookie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868680"/>
            <a:ext cx="3749040" cy="3794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MITM looks like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3863" y="1719072"/>
            <a:ext cx="1025434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8BD422-6278-78CB-B2D8-265E7F582BE2}"/>
              </a:ext>
            </a:extLst>
          </p:cNvPr>
          <p:cNvGrpSpPr/>
          <p:nvPr/>
        </p:nvGrpSpPr>
        <p:grpSpPr>
          <a:xfrm>
            <a:off x="5074921" y="1709928"/>
            <a:ext cx="3703319" cy="429768"/>
            <a:chOff x="5061858" y="1421892"/>
            <a:chExt cx="3703319" cy="429768"/>
          </a:xfrm>
        </p:grpSpPr>
        <p:sp>
          <p:nvSpPr>
            <p:cNvPr id="8" name="Shape 6"/>
            <p:cNvSpPr/>
            <p:nvPr/>
          </p:nvSpPr>
          <p:spPr>
            <a:xfrm>
              <a:off x="5061858" y="1421892"/>
              <a:ext cx="1064623" cy="429768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E2E8F0"/>
              </a:solidFill>
              <a:prstDash val="solid"/>
            </a:ln>
          </p:spPr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6BB29D2-9B3D-3B98-D395-1FCC0B48BDC1}"/>
                </a:ext>
              </a:extLst>
            </p:cNvPr>
            <p:cNvGrpSpPr/>
            <p:nvPr/>
          </p:nvGrpSpPr>
          <p:grpSpPr>
            <a:xfrm>
              <a:off x="5061858" y="1421892"/>
              <a:ext cx="3703319" cy="429768"/>
              <a:chOff x="5061858" y="1421892"/>
              <a:chExt cx="3703319" cy="429768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5061858" y="1421892"/>
                <a:ext cx="1064623" cy="4297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1A2A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Your Device</a:t>
                </a:r>
                <a:endParaRPr lang="en-US" sz="1300" dirty="0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6126480" y="1609344"/>
                <a:ext cx="274320" cy="54864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6400800" y="1421892"/>
                <a:ext cx="1025434" cy="4297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DC262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Attacker</a:t>
                </a:r>
                <a:endParaRPr lang="en-US" sz="1300" dirty="0"/>
              </a:p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DC262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(in the middle)</a:t>
                </a:r>
                <a:endParaRPr lang="en-US" sz="1300" dirty="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7426234" y="1632204"/>
                <a:ext cx="274320" cy="54864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</p:sp>
          <p:sp>
            <p:nvSpPr>
              <p:cNvPr id="14" name="Shape 12"/>
              <p:cNvSpPr/>
              <p:nvPr/>
            </p:nvSpPr>
            <p:spPr>
              <a:xfrm>
                <a:off x="7700554" y="1421892"/>
                <a:ext cx="1064623" cy="429768"/>
              </a:xfrm>
              <a:prstGeom prst="rect">
                <a:avLst/>
              </a:prstGeom>
              <a:solidFill>
                <a:srgbClr val="DBEAFE"/>
              </a:solidFill>
              <a:ln w="12700">
                <a:solidFill>
                  <a:srgbClr val="E2E8F0"/>
                </a:solidFill>
                <a:prstDash val="solid"/>
              </a:ln>
            </p:spPr>
          </p:sp>
        </p:grpSp>
        <p:sp>
          <p:nvSpPr>
            <p:cNvPr id="15" name="Text 13"/>
            <p:cNvSpPr/>
            <p:nvPr/>
          </p:nvSpPr>
          <p:spPr>
            <a:xfrm>
              <a:off x="7700554" y="1421892"/>
              <a:ext cx="1064623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Internet</a:t>
              </a:r>
              <a:endParaRPr lang="en-US" sz="13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51206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get any warning that this is happening.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don't even know these attacks exist.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People Use Right Now?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some tools people already use for security. Let's quickly look at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743200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208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your internet traffic by routing it through another server.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743200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544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01568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files on your device to detect and remove malware.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72200" y="1417320"/>
            <a:ext cx="2743200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54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81928" y="27889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or allows connections based on rules you set.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0292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useful tools. But they have some important limitations when it comes to public Wi-Fi...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Solutions Are Not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them has gaps — especially for a normal person on public Wi-Fi.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4592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417320"/>
            <a:ext cx="329184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misses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417320"/>
            <a:ext cx="329184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 normal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65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182880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865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detect rogue hotspots or MITM in real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82880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865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set up, slows connection, paid plans needed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164592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054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7400" y="2468880"/>
            <a:ext cx="32918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5054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scans files, not live network packets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94960" y="2468880"/>
            <a:ext cx="329184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054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help if you're on a fake hotspot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455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57400" y="310896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Device-level only, no IDS, no alerts to user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94960" y="310896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1455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manual configuration, not plug-and-play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give a real-time alert to a non-technical user in a simple, understandable way.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NETRA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something that works for everyone — not just tech-savvy people.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is simple: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NETRA into the router or use it as a hotspot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monitors all network traffic automatically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attacks like MITM or fake hotspots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bad traffic using firewall rules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alerts on a simple webpage — no app needed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566160" cy="374904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short...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544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577840" y="2103120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2423160"/>
            <a:ext cx="320040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45973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70448" y="248716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(USB Device)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77840" y="3017520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337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(safe)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30352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works in the middle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watching, filtering, protecting.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NETRA Works —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plug NETRA in, it does everything on its own. Here's the flow: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087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Plug 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71576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NETRA to the router via USB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28800" y="2670048"/>
            <a:ext cx="1417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70532" y="1417320"/>
            <a:ext cx="15087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452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6252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034540" y="271576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 connects through NETRA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79292" y="2670048"/>
            <a:ext cx="1417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21024" y="1417320"/>
            <a:ext cx="15087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16002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66744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85032" y="271576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watches all traffic in real time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129784" y="2670048"/>
            <a:ext cx="1417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71516" y="1417320"/>
            <a:ext cx="150876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4436" y="16002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17236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Detect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35524" y="271576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 finds suspicious activity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80276" y="2670048"/>
            <a:ext cx="1417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22008" y="1417320"/>
            <a:ext cx="150876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60020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67728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986016" y="271576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clear warning on the dashboard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0292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configuration. NETRA handles everything after the initial plug-in.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What's Inside NETRA?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is built using a Raspberry Pi Zero 2 W — it's small, cheap, and powerful enough for this job.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411480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476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911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Zero 2 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2185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unit. Handles all monitoring and detection.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560320"/>
            <a:ext cx="411480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334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96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OTG Adapter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2871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NETRA to the router or laptop USB port.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246120"/>
            <a:ext cx="411480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192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Chip (built-in)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3557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a protected hotspot for your device.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931920"/>
            <a:ext cx="411480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0507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Card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51560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OS, software, and traffic logs.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0" y="1234440"/>
            <a:ext cx="374904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16636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Raspberry Pi Zero 2 W?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166360" y="18288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— fits in a pocket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around ₹ 1800 only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built-in Wi-Fi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Linux (Raspbian OS)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CPU for Suricata IDS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74920" y="451321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device cost: ~₹3200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The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simple local web dashboard. You just open a browser and go to 192.168.4.1 — that's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 on the dashboard: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18745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— protected or not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all detected threats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logs with timestamps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Block/allow controls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(web server)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(front end)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(log storage)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6DAA6C1-9C2A-C36D-F79D-6059EDE8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748" y="1514841"/>
            <a:ext cx="5623561" cy="29875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all the parts of NETRA are connected and how data flows through the system.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D9E568A8-F7A9-7294-A0A3-07023CAC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3254"/>
            <a:ext cx="9144000" cy="36130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0" y="452952"/>
            <a:ext cx="91440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750" b="1" dirty="0">
                <a:solidFill>
                  <a:srgbClr val="163F7E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BUSINESS MODEL CANVAS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13565" y="1130589"/>
            <a:ext cx="1590462" cy="2637210"/>
            <a:chOff x="0" y="0"/>
            <a:chExt cx="837774" cy="13891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7774" cy="1389147"/>
            </a:xfrm>
            <a:custGeom>
              <a:avLst/>
              <a:gdLst/>
              <a:ahLst/>
              <a:cxnLst/>
              <a:rect l="l" t="t" r="r" b="b"/>
              <a:pathLst>
                <a:path w="837774" h="1389147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1328301"/>
                  </a:lnTo>
                  <a:cubicBezTo>
                    <a:pt x="837774" y="1344438"/>
                    <a:pt x="831363" y="1359915"/>
                    <a:pt x="819952" y="1371326"/>
                  </a:cubicBezTo>
                  <a:cubicBezTo>
                    <a:pt x="808541" y="1382737"/>
                    <a:pt x="793065" y="1389147"/>
                    <a:pt x="776927" y="1389147"/>
                  </a:cubicBezTo>
                  <a:lnTo>
                    <a:pt x="60846" y="1389147"/>
                  </a:lnTo>
                  <a:cubicBezTo>
                    <a:pt x="27242" y="1389147"/>
                    <a:pt x="0" y="1361906"/>
                    <a:pt x="0" y="1328301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37774" cy="142724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7929" y="1130589"/>
            <a:ext cx="1590462" cy="2637210"/>
            <a:chOff x="0" y="0"/>
            <a:chExt cx="837774" cy="13891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7774" cy="1389147"/>
            </a:xfrm>
            <a:custGeom>
              <a:avLst/>
              <a:gdLst/>
              <a:ahLst/>
              <a:cxnLst/>
              <a:rect l="l" t="t" r="r" b="b"/>
              <a:pathLst>
                <a:path w="837774" h="1389147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1328301"/>
                  </a:lnTo>
                  <a:cubicBezTo>
                    <a:pt x="837774" y="1344438"/>
                    <a:pt x="831363" y="1359915"/>
                    <a:pt x="819952" y="1371326"/>
                  </a:cubicBezTo>
                  <a:cubicBezTo>
                    <a:pt x="808541" y="1382737"/>
                    <a:pt x="793065" y="1389147"/>
                    <a:pt x="776927" y="1389147"/>
                  </a:cubicBezTo>
                  <a:lnTo>
                    <a:pt x="60846" y="1389147"/>
                  </a:lnTo>
                  <a:cubicBezTo>
                    <a:pt x="27242" y="1389147"/>
                    <a:pt x="0" y="1361906"/>
                    <a:pt x="0" y="1328301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37774" cy="142724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783781" y="1130589"/>
            <a:ext cx="1590462" cy="2637210"/>
            <a:chOff x="0" y="0"/>
            <a:chExt cx="837774" cy="13891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37774" cy="1389147"/>
            </a:xfrm>
            <a:custGeom>
              <a:avLst/>
              <a:gdLst/>
              <a:ahLst/>
              <a:cxnLst/>
              <a:rect l="l" t="t" r="r" b="b"/>
              <a:pathLst>
                <a:path w="837774" h="1389147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1328301"/>
                  </a:lnTo>
                  <a:cubicBezTo>
                    <a:pt x="837774" y="1344438"/>
                    <a:pt x="831363" y="1359915"/>
                    <a:pt x="819952" y="1371326"/>
                  </a:cubicBezTo>
                  <a:cubicBezTo>
                    <a:pt x="808541" y="1382737"/>
                    <a:pt x="793065" y="1389147"/>
                    <a:pt x="776927" y="1389147"/>
                  </a:cubicBezTo>
                  <a:lnTo>
                    <a:pt x="60846" y="1389147"/>
                  </a:lnTo>
                  <a:cubicBezTo>
                    <a:pt x="27242" y="1389147"/>
                    <a:pt x="0" y="1361906"/>
                    <a:pt x="0" y="1328301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37774" cy="142724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153435" y="1124521"/>
            <a:ext cx="1590462" cy="1302160"/>
            <a:chOff x="0" y="0"/>
            <a:chExt cx="837774" cy="68591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37774" cy="685911"/>
            </a:xfrm>
            <a:custGeom>
              <a:avLst/>
              <a:gdLst/>
              <a:ahLst/>
              <a:cxnLst/>
              <a:rect l="l" t="t" r="r" b="b"/>
              <a:pathLst>
                <a:path w="837774" h="685911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625065"/>
                  </a:lnTo>
                  <a:cubicBezTo>
                    <a:pt x="837774" y="641202"/>
                    <a:pt x="831363" y="656679"/>
                    <a:pt x="819952" y="668090"/>
                  </a:cubicBezTo>
                  <a:cubicBezTo>
                    <a:pt x="808541" y="679501"/>
                    <a:pt x="793065" y="685911"/>
                    <a:pt x="776927" y="685911"/>
                  </a:cubicBezTo>
                  <a:lnTo>
                    <a:pt x="60846" y="685911"/>
                  </a:lnTo>
                  <a:cubicBezTo>
                    <a:pt x="27242" y="685911"/>
                    <a:pt x="0" y="658669"/>
                    <a:pt x="0" y="625065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37774" cy="72401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14126" y="1124521"/>
            <a:ext cx="1590462" cy="1302160"/>
            <a:chOff x="0" y="0"/>
            <a:chExt cx="837774" cy="6859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7774" cy="685911"/>
            </a:xfrm>
            <a:custGeom>
              <a:avLst/>
              <a:gdLst/>
              <a:ahLst/>
              <a:cxnLst/>
              <a:rect l="l" t="t" r="r" b="b"/>
              <a:pathLst>
                <a:path w="837774" h="685911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625065"/>
                  </a:lnTo>
                  <a:cubicBezTo>
                    <a:pt x="837774" y="641202"/>
                    <a:pt x="831363" y="656679"/>
                    <a:pt x="819952" y="668090"/>
                  </a:cubicBezTo>
                  <a:cubicBezTo>
                    <a:pt x="808541" y="679501"/>
                    <a:pt x="793065" y="685911"/>
                    <a:pt x="776927" y="685911"/>
                  </a:cubicBezTo>
                  <a:lnTo>
                    <a:pt x="60846" y="685911"/>
                  </a:lnTo>
                  <a:cubicBezTo>
                    <a:pt x="27242" y="685911"/>
                    <a:pt x="0" y="658669"/>
                    <a:pt x="0" y="625065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37774" cy="72401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53435" y="2475164"/>
            <a:ext cx="1590462" cy="1287872"/>
            <a:chOff x="0" y="0"/>
            <a:chExt cx="837774" cy="67838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37774" cy="678385"/>
            </a:xfrm>
            <a:custGeom>
              <a:avLst/>
              <a:gdLst/>
              <a:ahLst/>
              <a:cxnLst/>
              <a:rect l="l" t="t" r="r" b="b"/>
              <a:pathLst>
                <a:path w="837774" h="678385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617539"/>
                  </a:lnTo>
                  <a:cubicBezTo>
                    <a:pt x="837774" y="633676"/>
                    <a:pt x="831363" y="649153"/>
                    <a:pt x="819952" y="660564"/>
                  </a:cubicBezTo>
                  <a:cubicBezTo>
                    <a:pt x="808541" y="671975"/>
                    <a:pt x="793065" y="678385"/>
                    <a:pt x="776927" y="678385"/>
                  </a:cubicBezTo>
                  <a:lnTo>
                    <a:pt x="60846" y="678385"/>
                  </a:lnTo>
                  <a:cubicBezTo>
                    <a:pt x="27242" y="678385"/>
                    <a:pt x="0" y="651143"/>
                    <a:pt x="0" y="617539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837774" cy="71648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14126" y="2475164"/>
            <a:ext cx="1590462" cy="1287872"/>
            <a:chOff x="0" y="0"/>
            <a:chExt cx="837774" cy="67838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37774" cy="678385"/>
            </a:xfrm>
            <a:custGeom>
              <a:avLst/>
              <a:gdLst/>
              <a:ahLst/>
              <a:cxnLst/>
              <a:rect l="l" t="t" r="r" b="b"/>
              <a:pathLst>
                <a:path w="837774" h="678385">
                  <a:moveTo>
                    <a:pt x="60846" y="0"/>
                  </a:moveTo>
                  <a:lnTo>
                    <a:pt x="776927" y="0"/>
                  </a:lnTo>
                  <a:cubicBezTo>
                    <a:pt x="810532" y="0"/>
                    <a:pt x="837774" y="27242"/>
                    <a:pt x="837774" y="60846"/>
                  </a:cubicBezTo>
                  <a:lnTo>
                    <a:pt x="837774" y="617539"/>
                  </a:lnTo>
                  <a:cubicBezTo>
                    <a:pt x="837774" y="633676"/>
                    <a:pt x="831363" y="649153"/>
                    <a:pt x="819952" y="660564"/>
                  </a:cubicBezTo>
                  <a:cubicBezTo>
                    <a:pt x="808541" y="671975"/>
                    <a:pt x="793065" y="678385"/>
                    <a:pt x="776927" y="678385"/>
                  </a:cubicBezTo>
                  <a:lnTo>
                    <a:pt x="60846" y="678385"/>
                  </a:lnTo>
                  <a:cubicBezTo>
                    <a:pt x="27242" y="678385"/>
                    <a:pt x="0" y="651143"/>
                    <a:pt x="0" y="617539"/>
                  </a:cubicBezTo>
                  <a:lnTo>
                    <a:pt x="0" y="60846"/>
                  </a:lnTo>
                  <a:cubicBezTo>
                    <a:pt x="0" y="27242"/>
                    <a:pt x="27242" y="0"/>
                    <a:pt x="60846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837774" cy="71648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3565" y="3805899"/>
            <a:ext cx="4030167" cy="1134374"/>
            <a:chOff x="0" y="0"/>
            <a:chExt cx="2122886" cy="5975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22886" cy="597530"/>
            </a:xfrm>
            <a:custGeom>
              <a:avLst/>
              <a:gdLst/>
              <a:ahLst/>
              <a:cxnLst/>
              <a:rect l="l" t="t" r="r" b="b"/>
              <a:pathLst>
                <a:path w="2122886" h="597530">
                  <a:moveTo>
                    <a:pt x="24012" y="0"/>
                  </a:moveTo>
                  <a:lnTo>
                    <a:pt x="2098874" y="0"/>
                  </a:lnTo>
                  <a:cubicBezTo>
                    <a:pt x="2105242" y="0"/>
                    <a:pt x="2111350" y="2530"/>
                    <a:pt x="2115853" y="7033"/>
                  </a:cubicBezTo>
                  <a:cubicBezTo>
                    <a:pt x="2120356" y="11536"/>
                    <a:pt x="2122886" y="17644"/>
                    <a:pt x="2122886" y="24012"/>
                  </a:cubicBezTo>
                  <a:lnTo>
                    <a:pt x="2122886" y="573518"/>
                  </a:lnTo>
                  <a:cubicBezTo>
                    <a:pt x="2122886" y="586779"/>
                    <a:pt x="2112135" y="597530"/>
                    <a:pt x="2098874" y="597530"/>
                  </a:cubicBezTo>
                  <a:lnTo>
                    <a:pt x="24012" y="597530"/>
                  </a:lnTo>
                  <a:cubicBezTo>
                    <a:pt x="17644" y="597530"/>
                    <a:pt x="11536" y="595000"/>
                    <a:pt x="7033" y="590497"/>
                  </a:cubicBezTo>
                  <a:cubicBezTo>
                    <a:pt x="2530" y="585994"/>
                    <a:pt x="0" y="579886"/>
                    <a:pt x="0" y="573518"/>
                  </a:cubicBezTo>
                  <a:lnTo>
                    <a:pt x="0" y="24012"/>
                  </a:lnTo>
                  <a:cubicBezTo>
                    <a:pt x="0" y="17644"/>
                    <a:pt x="2530" y="11536"/>
                    <a:pt x="7033" y="7033"/>
                  </a:cubicBezTo>
                  <a:cubicBezTo>
                    <a:pt x="11536" y="2530"/>
                    <a:pt x="17644" y="0"/>
                    <a:pt x="24012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122886" cy="63563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79011" y="3805899"/>
            <a:ext cx="4059379" cy="1134374"/>
            <a:chOff x="0" y="0"/>
            <a:chExt cx="2138274" cy="5975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38274" cy="597530"/>
            </a:xfrm>
            <a:custGeom>
              <a:avLst/>
              <a:gdLst/>
              <a:ahLst/>
              <a:cxnLst/>
              <a:rect l="l" t="t" r="r" b="b"/>
              <a:pathLst>
                <a:path w="2138274" h="597530">
                  <a:moveTo>
                    <a:pt x="23840" y="0"/>
                  </a:moveTo>
                  <a:lnTo>
                    <a:pt x="2114434" y="0"/>
                  </a:lnTo>
                  <a:cubicBezTo>
                    <a:pt x="2127600" y="0"/>
                    <a:pt x="2138274" y="10673"/>
                    <a:pt x="2138274" y="23840"/>
                  </a:cubicBezTo>
                  <a:lnTo>
                    <a:pt x="2138274" y="573690"/>
                  </a:lnTo>
                  <a:cubicBezTo>
                    <a:pt x="2138274" y="586857"/>
                    <a:pt x="2127600" y="597530"/>
                    <a:pt x="2114434" y="597530"/>
                  </a:cubicBezTo>
                  <a:lnTo>
                    <a:pt x="23840" y="597530"/>
                  </a:lnTo>
                  <a:cubicBezTo>
                    <a:pt x="10673" y="597530"/>
                    <a:pt x="0" y="586857"/>
                    <a:pt x="0" y="573690"/>
                  </a:cubicBezTo>
                  <a:lnTo>
                    <a:pt x="0" y="23840"/>
                  </a:lnTo>
                  <a:cubicBezTo>
                    <a:pt x="0" y="10673"/>
                    <a:pt x="10673" y="0"/>
                    <a:pt x="23840" y="0"/>
                  </a:cubicBezTo>
                  <a:close/>
                </a:path>
              </a:pathLst>
            </a:custGeom>
            <a:solidFill>
              <a:srgbClr val="D9DFE6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138274" cy="63563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89"/>
                </a:lnSpc>
              </a:pPr>
              <a:endParaRPr sz="90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05610" y="1124521"/>
            <a:ext cx="1598416" cy="249546"/>
            <a:chOff x="0" y="0"/>
            <a:chExt cx="841964" cy="1314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41964" cy="131448"/>
            </a:xfrm>
            <a:custGeom>
              <a:avLst/>
              <a:gdLst/>
              <a:ahLst/>
              <a:cxnLst/>
              <a:rect l="l" t="t" r="r" b="b"/>
              <a:pathLst>
                <a:path w="841964" h="131448">
                  <a:moveTo>
                    <a:pt x="0" y="0"/>
                  </a:moveTo>
                  <a:lnTo>
                    <a:pt x="841964" y="0"/>
                  </a:lnTo>
                  <a:lnTo>
                    <a:pt x="84196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84196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3565" y="3805899"/>
            <a:ext cx="4030167" cy="249546"/>
            <a:chOff x="0" y="0"/>
            <a:chExt cx="2122886" cy="1314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22886" cy="131448"/>
            </a:xfrm>
            <a:custGeom>
              <a:avLst/>
              <a:gdLst/>
              <a:ahLst/>
              <a:cxnLst/>
              <a:rect l="l" t="t" r="r" b="b"/>
              <a:pathLst>
                <a:path w="2122886" h="131448">
                  <a:moveTo>
                    <a:pt x="0" y="0"/>
                  </a:moveTo>
                  <a:lnTo>
                    <a:pt x="2122886" y="0"/>
                  </a:lnTo>
                  <a:lnTo>
                    <a:pt x="2122886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122886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52" name="Freeform 52"/>
          <p:cNvSpPr/>
          <p:nvPr/>
        </p:nvSpPr>
        <p:spPr>
          <a:xfrm>
            <a:off x="4293473" y="3843269"/>
            <a:ext cx="193109" cy="184331"/>
          </a:xfrm>
          <a:custGeom>
            <a:avLst/>
            <a:gdLst/>
            <a:ahLst/>
            <a:cxnLst/>
            <a:rect l="l" t="t" r="r" b="b"/>
            <a:pathLst>
              <a:path w="386217" h="368661">
                <a:moveTo>
                  <a:pt x="0" y="0"/>
                </a:moveTo>
                <a:lnTo>
                  <a:pt x="386217" y="0"/>
                </a:lnTo>
                <a:lnTo>
                  <a:pt x="386217" y="368662"/>
                </a:lnTo>
                <a:lnTo>
                  <a:pt x="0" y="368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4577522" y="3805899"/>
            <a:ext cx="4060868" cy="249546"/>
            <a:chOff x="0" y="0"/>
            <a:chExt cx="2139058" cy="1314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39058" cy="131448"/>
            </a:xfrm>
            <a:custGeom>
              <a:avLst/>
              <a:gdLst/>
              <a:ahLst/>
              <a:cxnLst/>
              <a:rect l="l" t="t" r="r" b="b"/>
              <a:pathLst>
                <a:path w="2139058" h="131448">
                  <a:moveTo>
                    <a:pt x="0" y="0"/>
                  </a:moveTo>
                  <a:lnTo>
                    <a:pt x="2139058" y="0"/>
                  </a:lnTo>
                  <a:lnTo>
                    <a:pt x="2139058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2139058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56" name="Freeform 56"/>
          <p:cNvSpPr/>
          <p:nvPr/>
        </p:nvSpPr>
        <p:spPr>
          <a:xfrm>
            <a:off x="8398312" y="3834502"/>
            <a:ext cx="190913" cy="186054"/>
          </a:xfrm>
          <a:custGeom>
            <a:avLst/>
            <a:gdLst/>
            <a:ahLst/>
            <a:cxnLst/>
            <a:rect l="l" t="t" r="r" b="b"/>
            <a:pathLst>
              <a:path w="381826" h="372107">
                <a:moveTo>
                  <a:pt x="0" y="0"/>
                </a:moveTo>
                <a:lnTo>
                  <a:pt x="381826" y="0"/>
                </a:lnTo>
                <a:lnTo>
                  <a:pt x="381826" y="372106"/>
                </a:lnTo>
                <a:lnTo>
                  <a:pt x="0" y="372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7047929" y="1124521"/>
            <a:ext cx="1590462" cy="249546"/>
            <a:chOff x="0" y="0"/>
            <a:chExt cx="837774" cy="1314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37774" cy="131448"/>
            </a:xfrm>
            <a:custGeom>
              <a:avLst/>
              <a:gdLst/>
              <a:ahLst/>
              <a:cxnLst/>
              <a:rect l="l" t="t" r="r" b="b"/>
              <a:pathLst>
                <a:path w="837774" h="131448">
                  <a:moveTo>
                    <a:pt x="0" y="0"/>
                  </a:moveTo>
                  <a:lnTo>
                    <a:pt x="837774" y="0"/>
                  </a:lnTo>
                  <a:lnTo>
                    <a:pt x="83777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83777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60" name="Freeform 60"/>
          <p:cNvSpPr/>
          <p:nvPr/>
        </p:nvSpPr>
        <p:spPr>
          <a:xfrm>
            <a:off x="8331012" y="1161443"/>
            <a:ext cx="258214" cy="167135"/>
          </a:xfrm>
          <a:custGeom>
            <a:avLst/>
            <a:gdLst/>
            <a:ahLst/>
            <a:cxnLst/>
            <a:rect l="l" t="t" r="r" b="b"/>
            <a:pathLst>
              <a:path w="516427" h="334269">
                <a:moveTo>
                  <a:pt x="0" y="0"/>
                </a:moveTo>
                <a:lnTo>
                  <a:pt x="516427" y="0"/>
                </a:lnTo>
                <a:lnTo>
                  <a:pt x="516427" y="334269"/>
                </a:lnTo>
                <a:lnTo>
                  <a:pt x="0" y="334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2153435" y="1124521"/>
            <a:ext cx="1598416" cy="249546"/>
            <a:chOff x="0" y="0"/>
            <a:chExt cx="841964" cy="1314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41964" cy="131448"/>
            </a:xfrm>
            <a:custGeom>
              <a:avLst/>
              <a:gdLst/>
              <a:ahLst/>
              <a:cxnLst/>
              <a:rect l="l" t="t" r="r" b="b"/>
              <a:pathLst>
                <a:path w="841964" h="131448">
                  <a:moveTo>
                    <a:pt x="0" y="0"/>
                  </a:moveTo>
                  <a:lnTo>
                    <a:pt x="841964" y="0"/>
                  </a:lnTo>
                  <a:lnTo>
                    <a:pt x="84196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84196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64" name="Freeform 64"/>
          <p:cNvSpPr/>
          <p:nvPr/>
        </p:nvSpPr>
        <p:spPr>
          <a:xfrm>
            <a:off x="3521160" y="1153553"/>
            <a:ext cx="182916" cy="182916"/>
          </a:xfrm>
          <a:custGeom>
            <a:avLst/>
            <a:gdLst/>
            <a:ahLst/>
            <a:cxnLst/>
            <a:rect l="l" t="t" r="r" b="b"/>
            <a:pathLst>
              <a:path w="365831" h="365831">
                <a:moveTo>
                  <a:pt x="0" y="0"/>
                </a:moveTo>
                <a:lnTo>
                  <a:pt x="365831" y="0"/>
                </a:lnTo>
                <a:lnTo>
                  <a:pt x="365831" y="365830"/>
                </a:lnTo>
                <a:lnTo>
                  <a:pt x="0" y="365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2153435" y="2474266"/>
            <a:ext cx="1598416" cy="249546"/>
            <a:chOff x="0" y="0"/>
            <a:chExt cx="841964" cy="13144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41964" cy="131448"/>
            </a:xfrm>
            <a:custGeom>
              <a:avLst/>
              <a:gdLst/>
              <a:ahLst/>
              <a:cxnLst/>
              <a:rect l="l" t="t" r="r" b="b"/>
              <a:pathLst>
                <a:path w="841964" h="131448">
                  <a:moveTo>
                    <a:pt x="0" y="0"/>
                  </a:moveTo>
                  <a:lnTo>
                    <a:pt x="841964" y="0"/>
                  </a:lnTo>
                  <a:lnTo>
                    <a:pt x="84196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84196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68" name="Freeform 68"/>
          <p:cNvSpPr/>
          <p:nvPr/>
        </p:nvSpPr>
        <p:spPr>
          <a:xfrm>
            <a:off x="3521160" y="2503248"/>
            <a:ext cx="182916" cy="188750"/>
          </a:xfrm>
          <a:custGeom>
            <a:avLst/>
            <a:gdLst/>
            <a:ahLst/>
            <a:cxnLst/>
            <a:rect l="l" t="t" r="r" b="b"/>
            <a:pathLst>
              <a:path w="365831" h="377499">
                <a:moveTo>
                  <a:pt x="0" y="0"/>
                </a:moveTo>
                <a:lnTo>
                  <a:pt x="365831" y="0"/>
                </a:lnTo>
                <a:lnTo>
                  <a:pt x="365831" y="377499"/>
                </a:lnTo>
                <a:lnTo>
                  <a:pt x="0" y="377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5414126" y="1124521"/>
            <a:ext cx="1598416" cy="249546"/>
            <a:chOff x="0" y="0"/>
            <a:chExt cx="841964" cy="1314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1964" cy="131448"/>
            </a:xfrm>
            <a:custGeom>
              <a:avLst/>
              <a:gdLst/>
              <a:ahLst/>
              <a:cxnLst/>
              <a:rect l="l" t="t" r="r" b="b"/>
              <a:pathLst>
                <a:path w="841964" h="131448">
                  <a:moveTo>
                    <a:pt x="0" y="0"/>
                  </a:moveTo>
                  <a:lnTo>
                    <a:pt x="841964" y="0"/>
                  </a:lnTo>
                  <a:lnTo>
                    <a:pt x="84196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84196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72" name="Freeform 72"/>
          <p:cNvSpPr/>
          <p:nvPr/>
        </p:nvSpPr>
        <p:spPr>
          <a:xfrm>
            <a:off x="6774589" y="1146868"/>
            <a:ext cx="192359" cy="196285"/>
          </a:xfrm>
          <a:custGeom>
            <a:avLst/>
            <a:gdLst/>
            <a:ahLst/>
            <a:cxnLst/>
            <a:rect l="l" t="t" r="r" b="b"/>
            <a:pathLst>
              <a:path w="384718" h="392569">
                <a:moveTo>
                  <a:pt x="0" y="0"/>
                </a:moveTo>
                <a:lnTo>
                  <a:pt x="384718" y="0"/>
                </a:lnTo>
                <a:lnTo>
                  <a:pt x="384718" y="392570"/>
                </a:lnTo>
                <a:lnTo>
                  <a:pt x="0" y="392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3" name="Group 73"/>
          <p:cNvGrpSpPr/>
          <p:nvPr/>
        </p:nvGrpSpPr>
        <p:grpSpPr>
          <a:xfrm>
            <a:off x="5414126" y="2474266"/>
            <a:ext cx="1598416" cy="249546"/>
            <a:chOff x="0" y="0"/>
            <a:chExt cx="841964" cy="13144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41964" cy="131448"/>
            </a:xfrm>
            <a:custGeom>
              <a:avLst/>
              <a:gdLst/>
              <a:ahLst/>
              <a:cxnLst/>
              <a:rect l="l" t="t" r="r" b="b"/>
              <a:pathLst>
                <a:path w="841964" h="131448">
                  <a:moveTo>
                    <a:pt x="0" y="0"/>
                  </a:moveTo>
                  <a:lnTo>
                    <a:pt x="841964" y="0"/>
                  </a:lnTo>
                  <a:lnTo>
                    <a:pt x="841964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841964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76" name="Freeform 76"/>
          <p:cNvSpPr/>
          <p:nvPr/>
        </p:nvSpPr>
        <p:spPr>
          <a:xfrm>
            <a:off x="6789307" y="2503383"/>
            <a:ext cx="177641" cy="188615"/>
          </a:xfrm>
          <a:custGeom>
            <a:avLst/>
            <a:gdLst/>
            <a:ahLst/>
            <a:cxnLst/>
            <a:rect l="l" t="t" r="r" b="b"/>
            <a:pathLst>
              <a:path w="355282" h="377230">
                <a:moveTo>
                  <a:pt x="0" y="0"/>
                </a:moveTo>
                <a:lnTo>
                  <a:pt x="355282" y="0"/>
                </a:lnTo>
                <a:lnTo>
                  <a:pt x="355282" y="377230"/>
                </a:lnTo>
                <a:lnTo>
                  <a:pt x="0" y="377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3783781" y="1124521"/>
            <a:ext cx="1587483" cy="249546"/>
            <a:chOff x="0" y="0"/>
            <a:chExt cx="836205" cy="13144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36205" cy="131448"/>
            </a:xfrm>
            <a:custGeom>
              <a:avLst/>
              <a:gdLst/>
              <a:ahLst/>
              <a:cxnLst/>
              <a:rect l="l" t="t" r="r" b="b"/>
              <a:pathLst>
                <a:path w="836205" h="131448">
                  <a:moveTo>
                    <a:pt x="0" y="0"/>
                  </a:moveTo>
                  <a:lnTo>
                    <a:pt x="836205" y="0"/>
                  </a:lnTo>
                  <a:lnTo>
                    <a:pt x="836205" y="131448"/>
                  </a:lnTo>
                  <a:lnTo>
                    <a:pt x="0" y="131448"/>
                  </a:lnTo>
                  <a:close/>
                </a:path>
              </a:pathLst>
            </a:custGeom>
            <a:solidFill>
              <a:srgbClr val="163F7E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836205" cy="16954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0"/>
                </a:lnSpc>
              </a:pPr>
              <a:endParaRPr sz="900"/>
            </a:p>
          </p:txBody>
        </p:sp>
      </p:grpSp>
      <p:sp>
        <p:nvSpPr>
          <p:cNvPr id="80" name="Freeform 80"/>
          <p:cNvSpPr/>
          <p:nvPr/>
        </p:nvSpPr>
        <p:spPr>
          <a:xfrm>
            <a:off x="5099400" y="1157274"/>
            <a:ext cx="221861" cy="175472"/>
          </a:xfrm>
          <a:custGeom>
            <a:avLst/>
            <a:gdLst/>
            <a:ahLst/>
            <a:cxnLst/>
            <a:rect l="l" t="t" r="r" b="b"/>
            <a:pathLst>
              <a:path w="443722" h="350943">
                <a:moveTo>
                  <a:pt x="0" y="0"/>
                </a:moveTo>
                <a:lnTo>
                  <a:pt x="443722" y="0"/>
                </a:lnTo>
                <a:lnTo>
                  <a:pt x="443722" y="350944"/>
                </a:lnTo>
                <a:lnTo>
                  <a:pt x="0" y="3509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1873486" y="1157836"/>
            <a:ext cx="182916" cy="182916"/>
          </a:xfrm>
          <a:custGeom>
            <a:avLst/>
            <a:gdLst/>
            <a:ahLst/>
            <a:cxnLst/>
            <a:rect l="l" t="t" r="r" b="b"/>
            <a:pathLst>
              <a:path w="365831" h="365831">
                <a:moveTo>
                  <a:pt x="0" y="0"/>
                </a:moveTo>
                <a:lnTo>
                  <a:pt x="365831" y="0"/>
                </a:lnTo>
                <a:lnTo>
                  <a:pt x="365831" y="365831"/>
                </a:lnTo>
                <a:lnTo>
                  <a:pt x="0" y="365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2" name="TextBox 82"/>
          <p:cNvSpPr txBox="1"/>
          <p:nvPr/>
        </p:nvSpPr>
        <p:spPr>
          <a:xfrm>
            <a:off x="594229" y="1171744"/>
            <a:ext cx="758133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Key Partners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02183" y="3853122"/>
            <a:ext cx="1501844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Cost Structure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666140" y="3853122"/>
            <a:ext cx="1341189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Revenue Stream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136547" y="1171744"/>
            <a:ext cx="1103978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Customer Segments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242054" y="1171744"/>
            <a:ext cx="758133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Key Activities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242054" y="2521490"/>
            <a:ext cx="931241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Key Resources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502744" y="1171744"/>
            <a:ext cx="1224220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Customer Relationship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502744" y="2521490"/>
            <a:ext cx="842117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Channel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872399" y="1171744"/>
            <a:ext cx="1063298" cy="12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"/>
              </a:lnSpc>
            </a:pPr>
            <a:r>
              <a:rPr lang="en-US" sz="750" b="1" dirty="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Value Propositions</a:t>
            </a:r>
          </a:p>
        </p:txBody>
      </p:sp>
      <p:sp>
        <p:nvSpPr>
          <p:cNvPr id="91" name="Rectangle 1">
            <a:extLst>
              <a:ext uri="{FF2B5EF4-FFF2-40B4-BE49-F238E27FC236}">
                <a16:creationId xmlns:a16="http://schemas.microsoft.com/office/drawing/2014/main" id="{7E326A73-AA7D-1BCD-CCD8-E235E4F3D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403" y="1367172"/>
            <a:ext cx="1510086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Freelancers using public Wi-Fi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Students working in cafes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Travelers using airport/public networks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Laptop users handling personal data </a:t>
            </a:r>
          </a:p>
        </p:txBody>
      </p:sp>
      <p:sp>
        <p:nvSpPr>
          <p:cNvPr id="92" name="Rectangle 2">
            <a:extLst>
              <a:ext uri="{FF2B5EF4-FFF2-40B4-BE49-F238E27FC236}">
                <a16:creationId xmlns:a16="http://schemas.microsoft.com/office/drawing/2014/main" id="{6DDF4E5D-D3B3-2079-8F38-ED4263FDE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697" y="1266897"/>
            <a:ext cx="1599172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Prevents data theft on public Wi-Fi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Alerts before connecting to unsafe networks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Simple, no setup required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Affordable personal security </a:t>
            </a:r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85D461E0-15BA-8309-D3EB-B9B1BDE5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31" y="2669423"/>
            <a:ext cx="156842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Online sales via Amazon, Flipkart 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Tech communities &amp; college demos 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3C3E5EDC-69E2-8912-D8FD-6B81333F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004" y="1325206"/>
            <a:ext cx="1598136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Easy plug-and-use experience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Regular updates for security </a:t>
            </a:r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4895A3C0-E199-E5FE-FF93-D660A9D3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781" y="3877353"/>
            <a:ext cx="3862243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One-time product sales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Future premium features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Bundled offers (student packs, etc.) </a:t>
            </a:r>
          </a:p>
        </p:txBody>
      </p:sp>
      <p:sp>
        <p:nvSpPr>
          <p:cNvPr id="96" name="Rectangle 6">
            <a:extLst>
              <a:ext uri="{FF2B5EF4-FFF2-40B4-BE49-F238E27FC236}">
                <a16:creationId xmlns:a16="http://schemas.microsoft.com/office/drawing/2014/main" id="{8FF95D65-0717-1445-FAD4-1C1CF883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479" y="1191903"/>
            <a:ext cx="157926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Product development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Security updates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Marketing &amp; user acquisition </a:t>
            </a:r>
          </a:p>
        </p:txBody>
      </p:sp>
      <p:sp>
        <p:nvSpPr>
          <p:cNvPr id="97" name="Rectangle 7">
            <a:extLst>
              <a:ext uri="{FF2B5EF4-FFF2-40B4-BE49-F238E27FC236}">
                <a16:creationId xmlns:a16="http://schemas.microsoft.com/office/drawing/2014/main" id="{49FFE476-90F8-7F64-49A6-E993BEF74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435" y="2628876"/>
            <a:ext cx="1668085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Hardware device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Security detection system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Development team </a:t>
            </a:r>
          </a:p>
        </p:txBody>
      </p:sp>
      <p:sp>
        <p:nvSpPr>
          <p:cNvPr id="98" name="Rectangle 8">
            <a:extLst>
              <a:ext uri="{FF2B5EF4-FFF2-40B4-BE49-F238E27FC236}">
                <a16:creationId xmlns:a16="http://schemas.microsoft.com/office/drawing/2014/main" id="{0DBA0F9B-636D-AEE5-3B2A-6CD603EC9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67" y="1230749"/>
            <a:ext cx="16472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Hardware suppliers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/>
              <a:t>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Manufacturers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Online marketplaces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Tech communities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cs typeface="Arial" panose="020B0604020202020204" pitchFamily="34" charset="0"/>
              </a:rPr>
              <a:t>Internet service providers </a:t>
            </a:r>
          </a:p>
          <a:p>
            <a:endParaRPr lang="en-US" sz="11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cs typeface="Arial" panose="020B0604020202020204" pitchFamily="34" charset="0"/>
              </a:rPr>
              <a:t>Cybersecurity firms </a:t>
            </a:r>
          </a:p>
          <a:p>
            <a:endParaRPr lang="en-US" sz="11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cs typeface="Arial" panose="020B0604020202020204" pitchFamily="34" charset="0"/>
              </a:rPr>
              <a:t>Electronics retailers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cs typeface="Arial" panose="020B0604020202020204" pitchFamily="34" charset="0"/>
            </a:endParaRPr>
          </a:p>
        </p:txBody>
      </p:sp>
      <p:sp>
        <p:nvSpPr>
          <p:cNvPr id="99" name="Rectangle 9">
            <a:extLst>
              <a:ext uri="{FF2B5EF4-FFF2-40B4-BE49-F238E27FC236}">
                <a16:creationId xmlns:a16="http://schemas.microsoft.com/office/drawing/2014/main" id="{3BBE0702-82B1-8BAE-F305-4495DDF05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777" y="3884506"/>
            <a:ext cx="3889681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ctr" anchorCtr="0" compatLnSpc="1">
            <a:prstTxWarp prst="textNoShape">
              <a:avLst/>
            </a:prstTxWarp>
            <a:spAutoFit/>
          </a:bodyPr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Hardware production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Development &amp; R&amp;D 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/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dirty="0"/>
              <a:t>Marketing &amp; distribution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54C2A-D796-1627-82F1-A7E47A5DF24F}"/>
              </a:ext>
            </a:extLst>
          </p:cNvPr>
          <p:cNvSpPr txBox="1"/>
          <p:nvPr/>
        </p:nvSpPr>
        <p:spPr>
          <a:xfrm>
            <a:off x="7986292" y="4887525"/>
            <a:ext cx="1011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90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NETRA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summarise what NETRA can do: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813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and Play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to install, no account to create. Just plug it 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3716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813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7764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 catches attacks as they happen, not after the fact.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3716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4813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Normal Users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90372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alerts. Simple dashboard. No technical knowledge needed.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5760" y="29718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29718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0815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Malicious Traffic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firewall drops bad packets before they reach your device.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91840" y="29718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91840" y="29718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08152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Logging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977640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log of all activity. You can review it anytime.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17920" y="2971800"/>
            <a:ext cx="278892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17920" y="297180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081528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&amp; Affordable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03720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as a pen drive. Total cost under ₹3200.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200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373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NETRA is Useful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423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summary of what we built and why it matters: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286207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 is used by millions of people every day — and most of them are not protected.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9272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33009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like VPN need technical knowledge and are not always affordable.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58184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73989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is a simple, plug-and-play device that anyone can use without any setup.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97096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41788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and blocks real attacks in real time — not just scans for files.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2743200" y="4736592"/>
            <a:ext cx="3657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 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1185</Words>
  <Application>Microsoft Office PowerPoint</Application>
  <PresentationFormat>On-screen Show (16:9)</PresentationFormat>
  <Paragraphs>240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Now Medium</vt:lpstr>
      <vt:lpstr>Prompt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 – Network Security Device</dc:title>
  <dc:subject>PptxGenJS Presentation</dc:subject>
  <dc:creator>Final Year Project</dc:creator>
  <cp:lastModifiedBy>bharanibd2007@outlook.com</cp:lastModifiedBy>
  <cp:revision>5</cp:revision>
  <dcterms:created xsi:type="dcterms:W3CDTF">2026-04-13T19:01:31Z</dcterms:created>
  <dcterms:modified xsi:type="dcterms:W3CDTF">2026-05-18T08:51:41Z</dcterms:modified>
</cp:coreProperties>
</file>